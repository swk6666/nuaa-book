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85110f3a274ecd" /><Relationship Type="http://schemas.openxmlformats.org/officeDocument/2006/relationships/extended-properties" Target="/docProps/app.xml" Id="Ra84ef878b1ff45af" /><Relationship Type="http://schemas.openxmlformats.org/officeDocument/2006/relationships/officeDocument" Target="/ppt/presentation.xml" Id="R2058fb8899b940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2a9183fc5843b4"/>
  </p:sldMasterIdLst>
  <p:notesMasterIdLst>
    <p:notesMasterId xmlns:r="http://schemas.openxmlformats.org/officeDocument/2006/relationships" r:id="R328b87f0189f420f"/>
  </p:notesMasterIdLst>
  <p:sldIdLst>
    <p:sldId xmlns:r="http://schemas.openxmlformats.org/officeDocument/2006/relationships" id="256" r:id="R08fa1bf41e274006"/>
  </p:sldIdLst>
  <p:sldSz cx="17145000" cy="13430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69b3d917644fd0" /><Relationship Type="http://schemas.openxmlformats.org/officeDocument/2006/relationships/slideMaster" Target="/ppt/slideMasters/slideMaster1.xml" Id="R152a9183fc5843b4" /><Relationship Type="http://schemas.openxmlformats.org/officeDocument/2006/relationships/notesMaster" Target="/ppt/notesMasters/notesMaster1.xml" Id="R328b87f0189f420f" /><Relationship Type="http://schemas.openxmlformats.org/officeDocument/2006/relationships/presProps" Target="/ppt/presProps.xml" Id="R479ebdd4500041cb" /><Relationship Type="http://schemas.openxmlformats.org/officeDocument/2006/relationships/tableStyles" Target="/ppt/tableStyles.xml" Id="Rf632e002674d4527" /><Relationship Type="http://schemas.openxmlformats.org/officeDocument/2006/relationships/slide" Target="/ppt/slides/slide1.xml" Id="R08fa1bf41e2740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71414c753142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3180fe35cf4291" /><Relationship Type="http://schemas.openxmlformats.org/officeDocument/2006/relationships/notesMaster" Target="/ppt/notesMasters/notesMaster1.xml" Id="R89af43ba1c174b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图中内容与设计依据：E:/NUAA-book/output/技术路线图/南航开放课题_技术路线图_重绘版.svg。所有文字、框线与箭头均为原生 PowerPoint 对象，可逐项编辑。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f779552c984a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9510aa53a54c57" /><Relationship Type="http://schemas.openxmlformats.org/officeDocument/2006/relationships/slideLayout" Target="/ppt/slideLayouts/slideLayout1.xml" Id="Rc8d4af46ac1b40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d4af46ac1b40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7301ed90a4f6f" /><Relationship Type="http://schemas.openxmlformats.org/officeDocument/2006/relationships/notesSlide" Target="/ppt/notesSlides/notesSlide1.xml" Id="R7bdbff94e45a44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source-3-rect">
            <a:extLst xmlns:a="http://schemas.openxmlformats.org/drawingml/2006/main">
              <a:ext uri="{FF2B5EF4-FFF2-40B4-BE49-F238E27FC236}">
                <a16:creationId xmlns:a16="http://schemas.microsoft.com/office/drawing/2014/main" id="{98201D01-AE20-409D-B88A-E115704E137B}"/>
              </a:ext>
            </a:extLst>
          </p:cNvPr>
          <p:cNvSpPr/>
          <p:nvPr/>
        </p:nvSpPr>
        <p:spPr>
          <a:xfrm xmlns:a="http://schemas.openxmlformats.org/drawingml/2006/main">
            <a:off x="0" y="0"/>
            <a:ext cx="17145000" cy="1343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4-rect">
            <a:extLst xmlns:a="http://schemas.openxmlformats.org/drawingml/2006/main">
              <a:ext uri="{FF2B5EF4-FFF2-40B4-BE49-F238E27FC236}">
                <a16:creationId xmlns:a16="http://schemas.microsoft.com/office/drawing/2014/main" id="{3513733B-0591-49D1-8715-73DFC4BB9060}"/>
              </a:ext>
            </a:extLst>
          </p:cNvPr>
          <p:cNvSpPr/>
          <p:nvPr/>
        </p:nvSpPr>
        <p:spPr>
          <a:xfrm xmlns:a="http://schemas.openxmlformats.org/drawingml/2006/main">
            <a:off x="1257300" y="285750"/>
            <a:ext cx="14630400" cy="1400175"/>
          </a:xfrm>
          <a:prstGeom xmlns:a="http://schemas.openxmlformats.org/drawingml/2006/main" prst="roundRect">
            <a:avLst>
              <a:gd name="adj" fmla="val 5442"/>
            </a:avLst>
          </a:prstGeom>
          <a:solidFill xmlns:a="http://schemas.openxmlformats.org/drawingml/2006/main">
            <a:srgbClr val="ECF1F6"/>
          </a:solidFill>
          <a:ln xmlns:a="http://schemas.openxmlformats.org/drawingml/2006/main" w="19050">
            <a:solidFill>
              <a:srgbClr val="365C7E"/>
            </a:solidFill>
            <a:prstDash val="solid"/>
          </a:ln>
        </p:spPr>
      </p:sp>
      <p:sp>
        <p:nvSpPr>
          <p:cNvPr id="3" name="source-5-text">
            <a:extLst xmlns:a="http://schemas.openxmlformats.org/drawingml/2006/main">
              <a:ext uri="{FF2B5EF4-FFF2-40B4-BE49-F238E27FC236}">
                <a16:creationId xmlns:a16="http://schemas.microsoft.com/office/drawing/2014/main" id="{BA117889-C5FF-4501-A691-C05639EEE27F}"/>
              </a:ext>
            </a:extLst>
          </p:cNvPr>
          <p:cNvSpPr/>
          <p:nvPr/>
        </p:nvSpPr>
        <p:spPr>
          <a:xfrm xmlns:a="http://schemas.openxmlformats.org/drawingml/2006/main" rot="0">
            <a:off x="3436430" y="451009"/>
            <a:ext cx="10272141" cy="655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3225" b="1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柔性桁架支撑下空间机器人的精确运动与柔顺组装</a:t>
            </a:r>
          </a:p>
        </p:txBody>
      </p:sp>
      <p:sp>
        <p:nvSpPr>
          <p:cNvPr id="4" name="source-6-text">
            <a:extLst xmlns:a="http://schemas.openxmlformats.org/drawingml/2006/main">
              <a:ext uri="{FF2B5EF4-FFF2-40B4-BE49-F238E27FC236}">
                <a16:creationId xmlns:a16="http://schemas.microsoft.com/office/drawing/2014/main" id="{1D0780CE-176E-4CBC-8BC8-D4337CA12FBE}"/>
              </a:ext>
            </a:extLst>
          </p:cNvPr>
          <p:cNvSpPr/>
          <p:nvPr/>
        </p:nvSpPr>
        <p:spPr>
          <a:xfrm xmlns:a="http://schemas.openxmlformats.org/drawingml/2006/main" rot="0">
            <a:off x="2352389" y="1075848"/>
            <a:ext cx="3029521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rPr>
              <a:t>基座振动与负载变化</a:t>
            </a:r>
          </a:p>
        </p:txBody>
      </p:sp>
      <p:sp>
        <p:nvSpPr>
          <p:cNvPr id="5" name="source-7-text">
            <a:extLst xmlns:a="http://schemas.openxmlformats.org/drawingml/2006/main">
              <a:ext uri="{FF2B5EF4-FFF2-40B4-BE49-F238E27FC236}">
                <a16:creationId xmlns:a16="http://schemas.microsoft.com/office/drawing/2014/main" id="{FD305C61-A266-4F70-BD50-B94656EA47F7}"/>
              </a:ext>
            </a:extLst>
          </p:cNvPr>
          <p:cNvSpPr/>
          <p:nvPr/>
        </p:nvSpPr>
        <p:spPr>
          <a:xfrm xmlns:a="http://schemas.openxmlformats.org/drawingml/2006/main" rot="0">
            <a:off x="7560279" y="1075848"/>
            <a:ext cx="2019681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rPr>
              <a:t>关节驱动约束</a:t>
            </a:r>
          </a:p>
        </p:txBody>
      </p:sp>
      <p:sp>
        <p:nvSpPr>
          <p:cNvPr id="6" name="source-8-text">
            <a:extLst xmlns:a="http://schemas.openxmlformats.org/drawingml/2006/main">
              <a:ext uri="{FF2B5EF4-FFF2-40B4-BE49-F238E27FC236}">
                <a16:creationId xmlns:a16="http://schemas.microsoft.com/office/drawing/2014/main" id="{EB312884-5B70-4D0D-B2AB-48CDAA02E30E}"/>
              </a:ext>
            </a:extLst>
          </p:cNvPr>
          <p:cNvSpPr/>
          <p:nvPr/>
        </p:nvSpPr>
        <p:spPr>
          <a:xfrm xmlns:a="http://schemas.openxmlformats.org/drawingml/2006/main" rot="0">
            <a:off x="12099703" y="1075848"/>
            <a:ext cx="2356294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rPr>
              <a:t>目标位姿不确定</a:t>
            </a:r>
          </a:p>
        </p:txBody>
      </p:sp>
      <p:sp>
        <p:nvSpPr>
          <p:cNvPr id="7" name="source-9-path">
            <a:extLst xmlns:a="http://schemas.openxmlformats.org/drawingml/2006/main">
              <a:ext uri="{FF2B5EF4-FFF2-40B4-BE49-F238E27FC236}">
                <a16:creationId xmlns:a16="http://schemas.microsoft.com/office/drawing/2014/main" id="{CBA599E1-97EB-40E2-B7BD-128D6EBF6F8E}"/>
              </a:ext>
            </a:extLst>
          </p:cNvPr>
          <p:cNvSpPr/>
          <p:nvPr/>
        </p:nvSpPr>
        <p:spPr>
          <a:xfrm xmlns:a="http://schemas.openxmlformats.org/drawingml/2006/main">
            <a:off x="6229350" y="1123950"/>
            <a:ext cx="9525" cy="314325"/>
          </a:xfrm>
          <a:custGeom xmlns:a="http://schemas.openxmlformats.org/drawingml/2006/main">
            <a:pathLst>
              <a:path w="9525" h="314325">
                <a:moveTo>
                  <a:pt x="0" y="0"/>
                </a:moveTo>
                <a:lnTo>
                  <a:pt x="0" y="314325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C2CCD6"/>
            </a:solidFill>
            <a:prstDash val="solid"/>
          </a:ln>
        </p:spPr>
      </p:sp>
      <p:sp>
        <p:nvSpPr>
          <p:cNvPr id="8" name="source-10-path">
            <a:extLst xmlns:a="http://schemas.openxmlformats.org/drawingml/2006/main">
              <a:ext uri="{FF2B5EF4-FFF2-40B4-BE49-F238E27FC236}">
                <a16:creationId xmlns:a16="http://schemas.microsoft.com/office/drawing/2014/main" id="{92ADE472-2B62-4C49-ABB3-DE736011FF1F}"/>
              </a:ext>
            </a:extLst>
          </p:cNvPr>
          <p:cNvSpPr/>
          <p:nvPr/>
        </p:nvSpPr>
        <p:spPr>
          <a:xfrm xmlns:a="http://schemas.openxmlformats.org/drawingml/2006/main">
            <a:off x="10915650" y="1123950"/>
            <a:ext cx="9525" cy="314325"/>
          </a:xfrm>
          <a:custGeom xmlns:a="http://schemas.openxmlformats.org/drawingml/2006/main">
            <a:pathLst>
              <a:path w="9525" h="314325">
                <a:moveTo>
                  <a:pt x="0" y="0"/>
                </a:moveTo>
                <a:lnTo>
                  <a:pt x="0" y="314325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C2CCD6"/>
            </a:solidFill>
            <a:prstDash val="solid"/>
          </a:ln>
        </p:spPr>
      </p:sp>
      <p:sp>
        <p:nvSpPr>
          <p:cNvPr id="9" name="source-11-path">
            <a:extLst xmlns:a="http://schemas.openxmlformats.org/drawingml/2006/main">
              <a:ext uri="{FF2B5EF4-FFF2-40B4-BE49-F238E27FC236}">
                <a16:creationId xmlns:a16="http://schemas.microsoft.com/office/drawing/2014/main" id="{C3C7D615-8293-45F5-BF02-51F9482F5583}"/>
              </a:ext>
            </a:extLst>
          </p:cNvPr>
          <p:cNvSpPr/>
          <p:nvPr/>
        </p:nvSpPr>
        <p:spPr>
          <a:xfrm xmlns:a="http://schemas.openxmlformats.org/drawingml/2006/main">
            <a:off x="4381500" y="1685925"/>
            <a:ext cx="9525" cy="600075"/>
          </a:xfrm>
          <a:custGeom xmlns:a="http://schemas.openxmlformats.org/drawingml/2006/main">
            <a:pathLst>
              <a:path w="9525" h="600075">
                <a:moveTo>
                  <a:pt x="0" y="0"/>
                </a:moveTo>
                <a:lnTo>
                  <a:pt x="0" y="600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C7E"/>
            </a:solidFill>
            <a:prstDash val="solid"/>
          </a:ln>
        </p:spPr>
      </p:sp>
      <p:sp>
        <p:nvSpPr>
          <p:cNvPr id="10" name="source-11-path-arrowhead">
            <a:extLst xmlns:a="http://schemas.openxmlformats.org/drawingml/2006/main">
              <a:ext uri="{FF2B5EF4-FFF2-40B4-BE49-F238E27FC236}">
                <a16:creationId xmlns:a16="http://schemas.microsoft.com/office/drawing/2014/main" id="{3778E091-7CCE-4765-B612-0E6D2D3A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113" y="2198688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 xmlns:a="http://schemas.openxmlformats.org/drawingml/2006/main">
            <a:srgbClr val="365C7E"/>
          </a:solidFill>
          <a:ln xmlns:a="http://schemas.openxmlformats.org/drawingml/2006/main" w="0">
            <a:noFill/>
          </a:ln>
        </p:spPr>
      </p:sp>
      <p:sp>
        <p:nvSpPr>
          <p:cNvPr id="11" name="source-12-path">
            <a:extLst xmlns:a="http://schemas.openxmlformats.org/drawingml/2006/main">
              <a:ext uri="{FF2B5EF4-FFF2-40B4-BE49-F238E27FC236}">
                <a16:creationId xmlns:a16="http://schemas.microsoft.com/office/drawing/2014/main" id="{3ABBD3B5-3ADA-47E8-8449-B520FF9968A2}"/>
              </a:ext>
            </a:extLst>
          </p:cNvPr>
          <p:cNvSpPr/>
          <p:nvPr/>
        </p:nvSpPr>
        <p:spPr>
          <a:xfrm xmlns:a="http://schemas.openxmlformats.org/drawingml/2006/main">
            <a:off x="12763500" y="1685925"/>
            <a:ext cx="9525" cy="600075"/>
          </a:xfrm>
          <a:custGeom xmlns:a="http://schemas.openxmlformats.org/drawingml/2006/main">
            <a:pathLst>
              <a:path w="9525" h="600075">
                <a:moveTo>
                  <a:pt x="0" y="0"/>
                </a:moveTo>
                <a:lnTo>
                  <a:pt x="0" y="600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97570"/>
            </a:solidFill>
            <a:prstDash val="solid"/>
          </a:ln>
        </p:spPr>
      </p:sp>
      <p:sp>
        <p:nvSpPr>
          <p:cNvPr id="12" name="source-12-path-arrowhead">
            <a:extLst xmlns:a="http://schemas.openxmlformats.org/drawingml/2006/main">
              <a:ext uri="{FF2B5EF4-FFF2-40B4-BE49-F238E27FC236}">
                <a16:creationId xmlns:a16="http://schemas.microsoft.com/office/drawing/2014/main" id="{3CAD43A5-20CB-4F28-A5C4-EAB3A7F5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113" y="2198688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 xmlns:a="http://schemas.openxmlformats.org/drawingml/2006/main">
            <a:srgbClr val="397570"/>
          </a:solidFill>
          <a:ln xmlns:a="http://schemas.openxmlformats.org/drawingml/2006/main" w="0">
            <a:noFill/>
          </a:ln>
        </p:spPr>
      </p:sp>
      <p:sp>
        <p:nvSpPr>
          <p:cNvPr id="13" name="source-13-rect">
            <a:extLst xmlns:a="http://schemas.openxmlformats.org/drawingml/2006/main">
              <a:ext uri="{FF2B5EF4-FFF2-40B4-BE49-F238E27FC236}">
                <a16:creationId xmlns:a16="http://schemas.microsoft.com/office/drawing/2014/main" id="{5A995EC0-F7E8-483C-8C08-5BEDC08E2446}"/>
              </a:ext>
            </a:extLst>
          </p:cNvPr>
          <p:cNvSpPr/>
          <p:nvPr/>
        </p:nvSpPr>
        <p:spPr>
          <a:xfrm xmlns:a="http://schemas.openxmlformats.org/drawingml/2006/main">
            <a:off x="1257300" y="2324100"/>
            <a:ext cx="6248400" cy="7115175"/>
          </a:xfrm>
          <a:prstGeom xmlns:a="http://schemas.openxmlformats.org/drawingml/2006/main" prst="roundRect">
            <a:avLst>
              <a:gd name="adj" fmla="val 1372"/>
            </a:avLst>
          </a:prstGeom>
          <a:solidFill xmlns:a="http://schemas.openxmlformats.org/drawingml/2006/main">
            <a:srgbClr val="F0F5F9"/>
          </a:solidFill>
          <a:ln xmlns:a="http://schemas.openxmlformats.org/drawingml/2006/main" w="19050">
            <a:solidFill>
              <a:srgbClr val="365C7E"/>
            </a:solidFill>
            <a:prstDash val="solid"/>
          </a:ln>
        </p:spPr>
      </p:sp>
      <p:sp>
        <p:nvSpPr>
          <p:cNvPr id="14" name="source-14-rect">
            <a:extLst xmlns:a="http://schemas.openxmlformats.org/drawingml/2006/main">
              <a:ext uri="{FF2B5EF4-FFF2-40B4-BE49-F238E27FC236}">
                <a16:creationId xmlns:a16="http://schemas.microsoft.com/office/drawing/2014/main" id="{6589B30B-5D8E-43AE-9E66-D06088D826D9}"/>
              </a:ext>
            </a:extLst>
          </p:cNvPr>
          <p:cNvSpPr/>
          <p:nvPr/>
        </p:nvSpPr>
        <p:spPr>
          <a:xfrm xmlns:a="http://schemas.openxmlformats.org/drawingml/2006/main">
            <a:off x="1257300" y="2324100"/>
            <a:ext cx="62484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365C7E"/>
          </a:solidFill>
          <a:ln xmlns:a="http://schemas.openxmlformats.org/drawingml/2006/main" w="9525">
            <a:solidFill>
              <a:srgbClr val="365C7E"/>
            </a:solidFill>
            <a:prstDash val="solid"/>
          </a:ln>
        </p:spPr>
      </p:sp>
      <p:sp>
        <p:nvSpPr>
          <p:cNvPr id="15" name="source-15-rect">
            <a:extLst xmlns:a="http://schemas.openxmlformats.org/drawingml/2006/main">
              <a:ext uri="{FF2B5EF4-FFF2-40B4-BE49-F238E27FC236}">
                <a16:creationId xmlns:a16="http://schemas.microsoft.com/office/drawing/2014/main" id="{6AEAF868-58B0-425F-8381-FCF07BAAC721}"/>
              </a:ext>
            </a:extLst>
          </p:cNvPr>
          <p:cNvSpPr/>
          <p:nvPr/>
        </p:nvSpPr>
        <p:spPr>
          <a:xfrm xmlns:a="http://schemas.openxmlformats.org/drawingml/2006/main">
            <a:off x="1257300" y="3009900"/>
            <a:ext cx="62484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ource-16-text">
            <a:extLst xmlns:a="http://schemas.openxmlformats.org/drawingml/2006/main">
              <a:ext uri="{FF2B5EF4-FFF2-40B4-BE49-F238E27FC236}">
                <a16:creationId xmlns:a16="http://schemas.microsoft.com/office/drawing/2014/main" id="{1887C1CA-6F17-4D65-9379-0DE1B1B75E37}"/>
              </a:ext>
            </a:extLst>
          </p:cNvPr>
          <p:cNvSpPr/>
          <p:nvPr/>
        </p:nvSpPr>
        <p:spPr>
          <a:xfrm xmlns:a="http://schemas.openxmlformats.org/drawingml/2006/main" rot="0">
            <a:off x="3524250" y="2438876"/>
            <a:ext cx="17145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1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研究内容一</a:t>
            </a:r>
          </a:p>
        </p:txBody>
      </p:sp>
      <p:sp>
        <p:nvSpPr>
          <p:cNvPr id="17" name="source-17-text">
            <a:extLst xmlns:a="http://schemas.openxmlformats.org/drawingml/2006/main">
              <a:ext uri="{FF2B5EF4-FFF2-40B4-BE49-F238E27FC236}">
                <a16:creationId xmlns:a16="http://schemas.microsoft.com/office/drawing/2014/main" id="{57D7CE71-CBF5-4320-8631-C4AB98443354}"/>
              </a:ext>
            </a:extLst>
          </p:cNvPr>
          <p:cNvSpPr/>
          <p:nvPr/>
        </p:nvSpPr>
        <p:spPr>
          <a:xfrm xmlns:a="http://schemas.openxmlformats.org/drawingml/2006/main" rot="0">
            <a:off x="2372678" y="2785110"/>
            <a:ext cx="4017645" cy="563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耦合动力学与运动控制</a:t>
            </a:r>
          </a:p>
        </p:txBody>
      </p:sp>
      <p:sp>
        <p:nvSpPr>
          <p:cNvPr id="18" name="source-18-rect">
            <a:extLst xmlns:a="http://schemas.openxmlformats.org/drawingml/2006/main">
              <a:ext uri="{FF2B5EF4-FFF2-40B4-BE49-F238E27FC236}">
                <a16:creationId xmlns:a16="http://schemas.microsoft.com/office/drawing/2014/main" id="{599F5169-53B4-434A-AB4A-7B3CBCD3BA5E}"/>
              </a:ext>
            </a:extLst>
          </p:cNvPr>
          <p:cNvSpPr/>
          <p:nvPr/>
        </p:nvSpPr>
        <p:spPr>
          <a:xfrm xmlns:a="http://schemas.openxmlformats.org/drawingml/2006/main">
            <a:off x="9639300" y="2324100"/>
            <a:ext cx="6248400" cy="7115175"/>
          </a:xfrm>
          <a:prstGeom xmlns:a="http://schemas.openxmlformats.org/drawingml/2006/main" prst="roundRect">
            <a:avLst>
              <a:gd name="adj" fmla="val 1372"/>
            </a:avLst>
          </a:prstGeom>
          <a:solidFill xmlns:a="http://schemas.openxmlformats.org/drawingml/2006/main">
            <a:srgbClr val="F0F7F5"/>
          </a:solidFill>
          <a:ln xmlns:a="http://schemas.openxmlformats.org/drawingml/2006/main" w="19050">
            <a:solidFill>
              <a:srgbClr val="397570"/>
            </a:solidFill>
            <a:prstDash val="solid"/>
          </a:ln>
        </p:spPr>
      </p:sp>
      <p:sp>
        <p:nvSpPr>
          <p:cNvPr id="19" name="source-19-rect">
            <a:extLst xmlns:a="http://schemas.openxmlformats.org/drawingml/2006/main">
              <a:ext uri="{FF2B5EF4-FFF2-40B4-BE49-F238E27FC236}">
                <a16:creationId xmlns:a16="http://schemas.microsoft.com/office/drawing/2014/main" id="{7C0FE8CB-C63D-43AB-B09C-16E0606817B6}"/>
              </a:ext>
            </a:extLst>
          </p:cNvPr>
          <p:cNvSpPr/>
          <p:nvPr/>
        </p:nvSpPr>
        <p:spPr>
          <a:xfrm xmlns:a="http://schemas.openxmlformats.org/drawingml/2006/main">
            <a:off x="9639300" y="2324100"/>
            <a:ext cx="62484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397570"/>
          </a:solidFill>
          <a:ln xmlns:a="http://schemas.openxmlformats.org/drawingml/2006/main" w="9525">
            <a:solidFill>
              <a:srgbClr val="397570"/>
            </a:solidFill>
            <a:prstDash val="solid"/>
          </a:ln>
        </p:spPr>
      </p:sp>
      <p:sp>
        <p:nvSpPr>
          <p:cNvPr id="20" name="source-20-rect">
            <a:extLst xmlns:a="http://schemas.openxmlformats.org/drawingml/2006/main">
              <a:ext uri="{FF2B5EF4-FFF2-40B4-BE49-F238E27FC236}">
                <a16:creationId xmlns:a16="http://schemas.microsoft.com/office/drawing/2014/main" id="{268CEFA8-013B-4661-BC59-95478BCBFF24}"/>
              </a:ext>
            </a:extLst>
          </p:cNvPr>
          <p:cNvSpPr/>
          <p:nvPr/>
        </p:nvSpPr>
        <p:spPr>
          <a:xfrm xmlns:a="http://schemas.openxmlformats.org/drawingml/2006/main">
            <a:off x="9639300" y="3009900"/>
            <a:ext cx="62484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ource-21-text">
            <a:extLst xmlns:a="http://schemas.openxmlformats.org/drawingml/2006/main">
              <a:ext uri="{FF2B5EF4-FFF2-40B4-BE49-F238E27FC236}">
                <a16:creationId xmlns:a16="http://schemas.microsoft.com/office/drawing/2014/main" id="{C447C955-41F8-450E-85B9-EBA59F036783}"/>
              </a:ext>
            </a:extLst>
          </p:cNvPr>
          <p:cNvSpPr/>
          <p:nvPr/>
        </p:nvSpPr>
        <p:spPr>
          <a:xfrm xmlns:a="http://schemas.openxmlformats.org/drawingml/2006/main" rot="0">
            <a:off x="11906250" y="2438876"/>
            <a:ext cx="17145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1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研究内容二</a:t>
            </a:r>
          </a:p>
        </p:txBody>
      </p:sp>
      <p:sp>
        <p:nvSpPr>
          <p:cNvPr id="22" name="source-22-text">
            <a:extLst xmlns:a="http://schemas.openxmlformats.org/drawingml/2006/main">
              <a:ext uri="{FF2B5EF4-FFF2-40B4-BE49-F238E27FC236}">
                <a16:creationId xmlns:a16="http://schemas.microsoft.com/office/drawing/2014/main" id="{1B36EC49-C486-4B05-9D47-15AE9979D8C8}"/>
              </a:ext>
            </a:extLst>
          </p:cNvPr>
          <p:cNvSpPr/>
          <p:nvPr/>
        </p:nvSpPr>
        <p:spPr>
          <a:xfrm xmlns:a="http://schemas.openxmlformats.org/drawingml/2006/main" rot="0">
            <a:off x="10955560" y="2785110"/>
            <a:ext cx="3615880" cy="563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接触引导与柔顺组装</a:t>
            </a:r>
          </a:p>
        </p:txBody>
      </p:sp>
      <p:sp>
        <p:nvSpPr>
          <p:cNvPr id="23" name="source-23-rect">
            <a:extLst xmlns:a="http://schemas.openxmlformats.org/drawingml/2006/main">
              <a:ext uri="{FF2B5EF4-FFF2-40B4-BE49-F238E27FC236}">
                <a16:creationId xmlns:a16="http://schemas.microsoft.com/office/drawing/2014/main" id="{7A0400BF-E8C2-4B4C-A38A-EB20839DA830}"/>
              </a:ext>
            </a:extLst>
          </p:cNvPr>
          <p:cNvSpPr/>
          <p:nvPr/>
        </p:nvSpPr>
        <p:spPr>
          <a:xfrm xmlns:a="http://schemas.openxmlformats.org/drawingml/2006/main">
            <a:off x="1524000" y="3486150"/>
            <a:ext cx="5715000" cy="1543050"/>
          </a:xfrm>
          <a:prstGeom xmlns:a="http://schemas.openxmlformats.org/drawingml/2006/main" prst="roundRect">
            <a:avLst>
              <a:gd name="adj" fmla="val 30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6C9D9"/>
            </a:solidFill>
            <a:prstDash val="solid"/>
          </a:ln>
        </p:spPr>
      </p:sp>
      <p:sp>
        <p:nvSpPr>
          <p:cNvPr id="24" name="source-24-rect">
            <a:extLst xmlns:a="http://schemas.openxmlformats.org/drawingml/2006/main">
              <a:ext uri="{FF2B5EF4-FFF2-40B4-BE49-F238E27FC236}">
                <a16:creationId xmlns:a16="http://schemas.microsoft.com/office/drawing/2014/main" id="{9CEB893F-48DE-4D10-9471-30C835EDC535}"/>
              </a:ext>
            </a:extLst>
          </p:cNvPr>
          <p:cNvSpPr/>
          <p:nvPr/>
        </p:nvSpPr>
        <p:spPr>
          <a:xfrm xmlns:a="http://schemas.openxmlformats.org/drawingml/2006/main">
            <a:off x="1524000" y="3486150"/>
            <a:ext cx="571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ource-25-text">
            <a:extLst xmlns:a="http://schemas.openxmlformats.org/drawingml/2006/main">
              <a:ext uri="{FF2B5EF4-FFF2-40B4-BE49-F238E27FC236}">
                <a16:creationId xmlns:a16="http://schemas.microsoft.com/office/drawing/2014/main" id="{EAB10923-FE4A-4B21-BFD6-779EB7D727EE}"/>
              </a:ext>
            </a:extLst>
          </p:cNvPr>
          <p:cNvSpPr/>
          <p:nvPr/>
        </p:nvSpPr>
        <p:spPr>
          <a:xfrm xmlns:a="http://schemas.openxmlformats.org/drawingml/2006/main" rot="0">
            <a:off x="2866072" y="3605212"/>
            <a:ext cx="304038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6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安装界面耦合表征</a:t>
            </a:r>
          </a:p>
        </p:txBody>
      </p:sp>
      <p:sp>
        <p:nvSpPr>
          <p:cNvPr id="26" name="source-26-text">
            <a:extLst xmlns:a="http://schemas.openxmlformats.org/drawingml/2006/main">
              <a:ext uri="{FF2B5EF4-FFF2-40B4-BE49-F238E27FC236}">
                <a16:creationId xmlns:a16="http://schemas.microsoft.com/office/drawing/2014/main" id="{6BDDA58A-20B3-48CF-8F5F-18DFE9938527}"/>
              </a:ext>
            </a:extLst>
          </p:cNvPr>
          <p:cNvSpPr/>
          <p:nvPr/>
        </p:nvSpPr>
        <p:spPr>
          <a:xfrm xmlns:a="http://schemas.openxmlformats.org/drawingml/2006/main" rot="0">
            <a:off x="2361819" y="4104798"/>
            <a:ext cx="4039362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作业端浮动基的倒置动力学</a:t>
            </a:r>
          </a:p>
        </p:txBody>
      </p:sp>
      <p:sp>
        <p:nvSpPr>
          <p:cNvPr id="27" name="source-27-text">
            <a:extLst xmlns:a="http://schemas.openxmlformats.org/drawingml/2006/main">
              <a:ext uri="{FF2B5EF4-FFF2-40B4-BE49-F238E27FC236}">
                <a16:creationId xmlns:a16="http://schemas.microsoft.com/office/drawing/2014/main" id="{C2EA3050-DDA2-4D66-A3EF-274A97A13749}"/>
              </a:ext>
            </a:extLst>
          </p:cNvPr>
          <p:cNvSpPr/>
          <p:nvPr/>
        </p:nvSpPr>
        <p:spPr>
          <a:xfrm xmlns:a="http://schemas.openxmlformats.org/drawingml/2006/main" rot="0">
            <a:off x="2361819" y="4504848"/>
            <a:ext cx="4039362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界面运动与载荷的耦合传递</a:t>
            </a:r>
          </a:p>
        </p:txBody>
      </p:sp>
      <p:sp>
        <p:nvSpPr>
          <p:cNvPr id="28" name="source-28-rect">
            <a:extLst xmlns:a="http://schemas.openxmlformats.org/drawingml/2006/main">
              <a:ext uri="{FF2B5EF4-FFF2-40B4-BE49-F238E27FC236}">
                <a16:creationId xmlns:a16="http://schemas.microsoft.com/office/drawing/2014/main" id="{45666729-CEA5-4B1D-AF23-13CDC42E739B}"/>
              </a:ext>
            </a:extLst>
          </p:cNvPr>
          <p:cNvSpPr/>
          <p:nvPr/>
        </p:nvSpPr>
        <p:spPr>
          <a:xfrm xmlns:a="http://schemas.openxmlformats.org/drawingml/2006/main">
            <a:off x="1524000" y="5410200"/>
            <a:ext cx="5715000" cy="1543050"/>
          </a:xfrm>
          <a:prstGeom xmlns:a="http://schemas.openxmlformats.org/drawingml/2006/main" prst="roundRect">
            <a:avLst>
              <a:gd name="adj" fmla="val 30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6C9D9"/>
            </a:solidFill>
            <a:prstDash val="solid"/>
          </a:ln>
        </p:spPr>
      </p:sp>
      <p:sp>
        <p:nvSpPr>
          <p:cNvPr id="29" name="source-29-rect">
            <a:extLst xmlns:a="http://schemas.openxmlformats.org/drawingml/2006/main">
              <a:ext uri="{FF2B5EF4-FFF2-40B4-BE49-F238E27FC236}">
                <a16:creationId xmlns:a16="http://schemas.microsoft.com/office/drawing/2014/main" id="{7FB28236-95CC-4E69-B8C6-E6559DD047E8}"/>
              </a:ext>
            </a:extLst>
          </p:cNvPr>
          <p:cNvSpPr/>
          <p:nvPr/>
        </p:nvSpPr>
        <p:spPr>
          <a:xfrm xmlns:a="http://schemas.openxmlformats.org/drawingml/2006/main">
            <a:off x="1524000" y="5410200"/>
            <a:ext cx="571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ource-30-text">
            <a:extLst xmlns:a="http://schemas.openxmlformats.org/drawingml/2006/main">
              <a:ext uri="{FF2B5EF4-FFF2-40B4-BE49-F238E27FC236}">
                <a16:creationId xmlns:a16="http://schemas.microsoft.com/office/drawing/2014/main" id="{19A3CED6-E612-422F-A31B-AA702EBDFC04}"/>
              </a:ext>
            </a:extLst>
          </p:cNvPr>
          <p:cNvSpPr/>
          <p:nvPr/>
        </p:nvSpPr>
        <p:spPr>
          <a:xfrm xmlns:a="http://schemas.openxmlformats.org/drawingml/2006/main" rot="0">
            <a:off x="2101215" y="5529262"/>
            <a:ext cx="456057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6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SE(3) 几何阻抗设计</a:t>
            </a:r>
          </a:p>
        </p:txBody>
      </p:sp>
      <p:sp>
        <p:nvSpPr>
          <p:cNvPr id="31" name="source-31-text">
            <a:extLst xmlns:a="http://schemas.openxmlformats.org/drawingml/2006/main">
              <a:ext uri="{FF2B5EF4-FFF2-40B4-BE49-F238E27FC236}">
                <a16:creationId xmlns:a16="http://schemas.microsoft.com/office/drawing/2014/main" id="{241679D5-09C3-4C6D-B468-302BDEC446A4}"/>
              </a:ext>
            </a:extLst>
          </p:cNvPr>
          <p:cNvSpPr/>
          <p:nvPr/>
        </p:nvSpPr>
        <p:spPr>
          <a:xfrm xmlns:a="http://schemas.openxmlformats.org/drawingml/2006/main" rot="0">
            <a:off x="2532507" y="6028848"/>
            <a:ext cx="3702748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位姿误差动态与坐标映射</a:t>
            </a:r>
          </a:p>
        </p:txBody>
      </p:sp>
      <p:sp>
        <p:nvSpPr>
          <p:cNvPr id="32" name="source-32-text">
            <a:extLst xmlns:a="http://schemas.openxmlformats.org/drawingml/2006/main">
              <a:ext uri="{FF2B5EF4-FFF2-40B4-BE49-F238E27FC236}">
                <a16:creationId xmlns:a16="http://schemas.microsoft.com/office/drawing/2014/main" id="{F69F5F2D-7AC6-41E1-804D-FF43F279DA6E}"/>
              </a:ext>
            </a:extLst>
          </p:cNvPr>
          <p:cNvSpPr/>
          <p:nvPr/>
        </p:nvSpPr>
        <p:spPr>
          <a:xfrm xmlns:a="http://schemas.openxmlformats.org/drawingml/2006/main" rot="0">
            <a:off x="2698433" y="6428898"/>
            <a:ext cx="3366135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生成作业端参考加速度</a:t>
            </a:r>
          </a:p>
        </p:txBody>
      </p:sp>
      <p:sp>
        <p:nvSpPr>
          <p:cNvPr id="33" name="source-33-rect">
            <a:extLst xmlns:a="http://schemas.openxmlformats.org/drawingml/2006/main">
              <a:ext uri="{FF2B5EF4-FFF2-40B4-BE49-F238E27FC236}">
                <a16:creationId xmlns:a16="http://schemas.microsoft.com/office/drawing/2014/main" id="{7D4F0A54-8BD3-4C81-8413-F354FE99BCD0}"/>
              </a:ext>
            </a:extLst>
          </p:cNvPr>
          <p:cNvSpPr/>
          <p:nvPr/>
        </p:nvSpPr>
        <p:spPr>
          <a:xfrm xmlns:a="http://schemas.openxmlformats.org/drawingml/2006/main">
            <a:off x="1524000" y="7334250"/>
            <a:ext cx="5715000" cy="1543050"/>
          </a:xfrm>
          <a:prstGeom xmlns:a="http://schemas.openxmlformats.org/drawingml/2006/main" prst="roundRect">
            <a:avLst>
              <a:gd name="adj" fmla="val 30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6C9D9"/>
            </a:solidFill>
            <a:prstDash val="solid"/>
          </a:ln>
        </p:spPr>
      </p:sp>
      <p:sp>
        <p:nvSpPr>
          <p:cNvPr id="34" name="source-34-rect">
            <a:extLst xmlns:a="http://schemas.openxmlformats.org/drawingml/2006/main">
              <a:ext uri="{FF2B5EF4-FFF2-40B4-BE49-F238E27FC236}">
                <a16:creationId xmlns:a16="http://schemas.microsoft.com/office/drawing/2014/main" id="{F02F8DE6-2C7D-409D-974B-218A5A89BA01}"/>
              </a:ext>
            </a:extLst>
          </p:cNvPr>
          <p:cNvSpPr/>
          <p:nvPr/>
        </p:nvSpPr>
        <p:spPr>
          <a:xfrm xmlns:a="http://schemas.openxmlformats.org/drawingml/2006/main">
            <a:off x="1524000" y="7334250"/>
            <a:ext cx="571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C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ource-35-text">
            <a:extLst xmlns:a="http://schemas.openxmlformats.org/drawingml/2006/main">
              <a:ext uri="{FF2B5EF4-FFF2-40B4-BE49-F238E27FC236}">
                <a16:creationId xmlns:a16="http://schemas.microsoft.com/office/drawing/2014/main" id="{99994D13-4DD7-462A-A7F3-D34832787A1C}"/>
              </a:ext>
            </a:extLst>
          </p:cNvPr>
          <p:cNvSpPr/>
          <p:nvPr/>
        </p:nvSpPr>
        <p:spPr>
          <a:xfrm xmlns:a="http://schemas.openxmlformats.org/drawingml/2006/main" rot="0">
            <a:off x="2861310" y="7453312"/>
            <a:ext cx="304038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6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受约束动力学优化</a:t>
            </a:r>
          </a:p>
        </p:txBody>
      </p:sp>
      <p:sp>
        <p:nvSpPr>
          <p:cNvPr id="36" name="source-36-text">
            <a:extLst xmlns:a="http://schemas.openxmlformats.org/drawingml/2006/main">
              <a:ext uri="{FF2B5EF4-FFF2-40B4-BE49-F238E27FC236}">
                <a16:creationId xmlns:a16="http://schemas.microsoft.com/office/drawing/2014/main" id="{AB3CC8A1-0033-485A-BCC9-973CF6F1E7A5}"/>
              </a:ext>
            </a:extLst>
          </p:cNvPr>
          <p:cNvSpPr/>
          <p:nvPr/>
        </p:nvSpPr>
        <p:spPr>
          <a:xfrm xmlns:a="http://schemas.openxmlformats.org/drawingml/2006/main" rot="0">
            <a:off x="2193512" y="7952898"/>
            <a:ext cx="4375976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关节运动、力矩及变化量约束</a:t>
            </a:r>
          </a:p>
        </p:txBody>
      </p:sp>
      <p:sp>
        <p:nvSpPr>
          <p:cNvPr id="37" name="source-37-text">
            <a:extLst xmlns:a="http://schemas.openxmlformats.org/drawingml/2006/main">
              <a:ext uri="{FF2B5EF4-FFF2-40B4-BE49-F238E27FC236}">
                <a16:creationId xmlns:a16="http://schemas.microsoft.com/office/drawing/2014/main" id="{40229D13-8374-43AC-897E-2A7AE9F3575B}"/>
              </a:ext>
            </a:extLst>
          </p:cNvPr>
          <p:cNvSpPr/>
          <p:nvPr/>
        </p:nvSpPr>
        <p:spPr>
          <a:xfrm xmlns:a="http://schemas.openxmlformats.org/drawingml/2006/main" rot="0">
            <a:off x="2359438" y="8352948"/>
            <a:ext cx="4039362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阻抗可实现性与局部误差界</a:t>
            </a:r>
          </a:p>
        </p:txBody>
      </p:sp>
      <p:sp>
        <p:nvSpPr>
          <p:cNvPr id="38" name="source-38-rect">
            <a:extLst xmlns:a="http://schemas.openxmlformats.org/drawingml/2006/main">
              <a:ext uri="{FF2B5EF4-FFF2-40B4-BE49-F238E27FC236}">
                <a16:creationId xmlns:a16="http://schemas.microsoft.com/office/drawing/2014/main" id="{BCBAD8CF-AB51-41D3-B0B1-CE306ECECD47}"/>
              </a:ext>
            </a:extLst>
          </p:cNvPr>
          <p:cNvSpPr/>
          <p:nvPr/>
        </p:nvSpPr>
        <p:spPr>
          <a:xfrm xmlns:a="http://schemas.openxmlformats.org/drawingml/2006/main">
            <a:off x="9906000" y="3486150"/>
            <a:ext cx="5715000" cy="1543050"/>
          </a:xfrm>
          <a:prstGeom xmlns:a="http://schemas.openxmlformats.org/drawingml/2006/main" prst="roundRect">
            <a:avLst>
              <a:gd name="adj" fmla="val 30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4D0CB"/>
            </a:solidFill>
            <a:prstDash val="solid"/>
          </a:ln>
        </p:spPr>
      </p:sp>
      <p:sp>
        <p:nvSpPr>
          <p:cNvPr id="39" name="source-39-rect">
            <a:extLst xmlns:a="http://schemas.openxmlformats.org/drawingml/2006/main">
              <a:ext uri="{FF2B5EF4-FFF2-40B4-BE49-F238E27FC236}">
                <a16:creationId xmlns:a16="http://schemas.microsoft.com/office/drawing/2014/main" id="{0EA97D64-5524-443A-ACAD-FD8709CF1452}"/>
              </a:ext>
            </a:extLst>
          </p:cNvPr>
          <p:cNvSpPr/>
          <p:nvPr/>
        </p:nvSpPr>
        <p:spPr>
          <a:xfrm xmlns:a="http://schemas.openxmlformats.org/drawingml/2006/main">
            <a:off x="9906000" y="3486150"/>
            <a:ext cx="571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source-40-text">
            <a:extLst xmlns:a="http://schemas.openxmlformats.org/drawingml/2006/main">
              <a:ext uri="{FF2B5EF4-FFF2-40B4-BE49-F238E27FC236}">
                <a16:creationId xmlns:a16="http://schemas.microsoft.com/office/drawing/2014/main" id="{EA7A7112-90BC-4504-84F1-CED208BE7DEA}"/>
              </a:ext>
            </a:extLst>
          </p:cNvPr>
          <p:cNvSpPr/>
          <p:nvPr/>
        </p:nvSpPr>
        <p:spPr>
          <a:xfrm xmlns:a="http://schemas.openxmlformats.org/drawingml/2006/main" rot="0">
            <a:off x="10670858" y="3605212"/>
            <a:ext cx="418052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rPr>
              <a:t>接触流形表征与目标配准</a:t>
            </a:r>
          </a:p>
        </p:txBody>
      </p:sp>
      <p:sp>
        <p:nvSpPr>
          <p:cNvPr id="41" name="source-41-text">
            <a:extLst xmlns:a="http://schemas.openxmlformats.org/drawingml/2006/main">
              <a:ext uri="{FF2B5EF4-FFF2-40B4-BE49-F238E27FC236}">
                <a16:creationId xmlns:a16="http://schemas.microsoft.com/office/drawing/2014/main" id="{59EF111C-5A45-4E5C-8089-061A57DD3C0E}"/>
              </a:ext>
            </a:extLst>
          </p:cNvPr>
          <p:cNvSpPr/>
          <p:nvPr/>
        </p:nvSpPr>
        <p:spPr>
          <a:xfrm xmlns:a="http://schemas.openxmlformats.org/drawingml/2006/main" rot="0">
            <a:off x="10236518" y="4104798"/>
            <a:ext cx="5049202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物理方向辅助接触场配准 PCF</a:t>
            </a:r>
          </a:p>
        </p:txBody>
      </p:sp>
      <p:sp>
        <p:nvSpPr>
          <p:cNvPr id="42" name="source-42-text">
            <a:extLst xmlns:a="http://schemas.openxmlformats.org/drawingml/2006/main">
              <a:ext uri="{FF2B5EF4-FFF2-40B4-BE49-F238E27FC236}">
                <a16:creationId xmlns:a16="http://schemas.microsoft.com/office/drawing/2014/main" id="{B7CC825B-9A71-45EE-851B-BA9D14C436C1}"/>
              </a:ext>
            </a:extLst>
          </p:cNvPr>
          <p:cNvSpPr/>
          <p:nvPr/>
        </p:nvSpPr>
        <p:spPr>
          <a:xfrm xmlns:a="http://schemas.openxmlformats.org/drawingml/2006/main" rot="0">
            <a:off x="10577893" y="4504848"/>
            <a:ext cx="4375976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基座运动补偿与局部可辨识性</a:t>
            </a:r>
          </a:p>
        </p:txBody>
      </p:sp>
      <p:sp>
        <p:nvSpPr>
          <p:cNvPr id="43" name="source-43-rect">
            <a:extLst xmlns:a="http://schemas.openxmlformats.org/drawingml/2006/main">
              <a:ext uri="{FF2B5EF4-FFF2-40B4-BE49-F238E27FC236}">
                <a16:creationId xmlns:a16="http://schemas.microsoft.com/office/drawing/2014/main" id="{04226E89-7806-45DC-BBE6-A5E6AAF0C8F6}"/>
              </a:ext>
            </a:extLst>
          </p:cNvPr>
          <p:cNvSpPr/>
          <p:nvPr/>
        </p:nvSpPr>
        <p:spPr>
          <a:xfrm xmlns:a="http://schemas.openxmlformats.org/drawingml/2006/main">
            <a:off x="9906000" y="5410200"/>
            <a:ext cx="5715000" cy="1543050"/>
          </a:xfrm>
          <a:prstGeom xmlns:a="http://schemas.openxmlformats.org/drawingml/2006/main" prst="roundRect">
            <a:avLst>
              <a:gd name="adj" fmla="val 30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4D0CB"/>
            </a:solidFill>
            <a:prstDash val="solid"/>
          </a:ln>
        </p:spPr>
      </p:sp>
      <p:sp>
        <p:nvSpPr>
          <p:cNvPr id="44" name="source-44-rect">
            <a:extLst xmlns:a="http://schemas.openxmlformats.org/drawingml/2006/main">
              <a:ext uri="{FF2B5EF4-FFF2-40B4-BE49-F238E27FC236}">
                <a16:creationId xmlns:a16="http://schemas.microsoft.com/office/drawing/2014/main" id="{5503B4F9-92FE-43C9-9A16-EE472A660149}"/>
              </a:ext>
            </a:extLst>
          </p:cNvPr>
          <p:cNvSpPr/>
          <p:nvPr/>
        </p:nvSpPr>
        <p:spPr>
          <a:xfrm xmlns:a="http://schemas.openxmlformats.org/drawingml/2006/main">
            <a:off x="9906000" y="5410200"/>
            <a:ext cx="571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source-45-text">
            <a:extLst xmlns:a="http://schemas.openxmlformats.org/drawingml/2006/main">
              <a:ext uri="{FF2B5EF4-FFF2-40B4-BE49-F238E27FC236}">
                <a16:creationId xmlns:a16="http://schemas.microsoft.com/office/drawing/2014/main" id="{1A28758A-3DF1-49E8-AF85-6E17897F047A}"/>
              </a:ext>
            </a:extLst>
          </p:cNvPr>
          <p:cNvSpPr/>
          <p:nvPr/>
        </p:nvSpPr>
        <p:spPr>
          <a:xfrm xmlns:a="http://schemas.openxmlformats.org/drawingml/2006/main" rot="0">
            <a:off x="11623358" y="5529262"/>
            <a:ext cx="228028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rPr>
              <a:t>有界参考修正</a:t>
            </a:r>
          </a:p>
        </p:txBody>
      </p:sp>
      <p:sp>
        <p:nvSpPr>
          <p:cNvPr id="46" name="source-46-text">
            <a:extLst xmlns:a="http://schemas.openxmlformats.org/drawingml/2006/main">
              <a:ext uri="{FF2B5EF4-FFF2-40B4-BE49-F238E27FC236}">
                <a16:creationId xmlns:a16="http://schemas.microsoft.com/office/drawing/2014/main" id="{2D1CE3B2-73B7-4556-B5A3-1B6FD901E470}"/>
              </a:ext>
            </a:extLst>
          </p:cNvPr>
          <p:cNvSpPr/>
          <p:nvPr/>
        </p:nvSpPr>
        <p:spPr>
          <a:xfrm xmlns:a="http://schemas.openxmlformats.org/drawingml/2006/main" rot="0">
            <a:off x="11080433" y="6028848"/>
            <a:ext cx="3366135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约束导纳捕获 RAC</a:t>
            </a:r>
          </a:p>
        </p:txBody>
      </p:sp>
      <p:sp>
        <p:nvSpPr>
          <p:cNvPr id="47" name="source-47-text">
            <a:extLst xmlns:a="http://schemas.openxmlformats.org/drawingml/2006/main">
              <a:ext uri="{FF2B5EF4-FFF2-40B4-BE49-F238E27FC236}">
                <a16:creationId xmlns:a16="http://schemas.microsoft.com/office/drawing/2014/main" id="{894B47F7-80D2-4CF3-8221-4CBB06EA87CC}"/>
              </a:ext>
            </a:extLst>
          </p:cNvPr>
          <p:cNvSpPr/>
          <p:nvPr/>
        </p:nvSpPr>
        <p:spPr>
          <a:xfrm xmlns:a="http://schemas.openxmlformats.org/drawingml/2006/main" rot="0">
            <a:off x="10912126" y="6428898"/>
            <a:ext cx="3702748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修正速率与累计偏移约束</a:t>
            </a:r>
          </a:p>
        </p:txBody>
      </p:sp>
      <p:sp>
        <p:nvSpPr>
          <p:cNvPr id="48" name="source-48-rect">
            <a:extLst xmlns:a="http://schemas.openxmlformats.org/drawingml/2006/main">
              <a:ext uri="{FF2B5EF4-FFF2-40B4-BE49-F238E27FC236}">
                <a16:creationId xmlns:a16="http://schemas.microsoft.com/office/drawing/2014/main" id="{D0997FAA-1D4C-4276-9135-B4478E016553}"/>
              </a:ext>
            </a:extLst>
          </p:cNvPr>
          <p:cNvSpPr/>
          <p:nvPr/>
        </p:nvSpPr>
        <p:spPr>
          <a:xfrm xmlns:a="http://schemas.openxmlformats.org/drawingml/2006/main">
            <a:off x="9906000" y="7334250"/>
            <a:ext cx="5715000" cy="1543050"/>
          </a:xfrm>
          <a:prstGeom xmlns:a="http://schemas.openxmlformats.org/drawingml/2006/main" prst="roundRect">
            <a:avLst>
              <a:gd name="adj" fmla="val 30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B4D0CB"/>
            </a:solidFill>
            <a:prstDash val="solid"/>
          </a:ln>
        </p:spPr>
      </p:sp>
      <p:sp>
        <p:nvSpPr>
          <p:cNvPr id="49" name="source-49-rect">
            <a:extLst xmlns:a="http://schemas.openxmlformats.org/drawingml/2006/main">
              <a:ext uri="{FF2B5EF4-FFF2-40B4-BE49-F238E27FC236}">
                <a16:creationId xmlns:a16="http://schemas.microsoft.com/office/drawing/2014/main" id="{88EE7783-B14D-4785-8007-7B9A53B816BA}"/>
              </a:ext>
            </a:extLst>
          </p:cNvPr>
          <p:cNvSpPr/>
          <p:nvPr/>
        </p:nvSpPr>
        <p:spPr>
          <a:xfrm xmlns:a="http://schemas.openxmlformats.org/drawingml/2006/main">
            <a:off x="9906000" y="7334250"/>
            <a:ext cx="571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source-50-text">
            <a:extLst xmlns:a="http://schemas.openxmlformats.org/drawingml/2006/main">
              <a:ext uri="{FF2B5EF4-FFF2-40B4-BE49-F238E27FC236}">
                <a16:creationId xmlns:a16="http://schemas.microsoft.com/office/drawing/2014/main" id="{EB77A2FF-C11B-47E4-887D-6BACA4412742}"/>
              </a:ext>
            </a:extLst>
          </p:cNvPr>
          <p:cNvSpPr/>
          <p:nvPr/>
        </p:nvSpPr>
        <p:spPr>
          <a:xfrm xmlns:a="http://schemas.openxmlformats.org/drawingml/2006/main" rot="0">
            <a:off x="10668477" y="7453312"/>
            <a:ext cx="418052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rPr>
              <a:t>接触估计与运动执行协调</a:t>
            </a:r>
          </a:p>
        </p:txBody>
      </p:sp>
      <p:sp>
        <p:nvSpPr>
          <p:cNvPr id="51" name="source-51-text">
            <a:extLst xmlns:a="http://schemas.openxmlformats.org/drawingml/2006/main">
              <a:ext uri="{FF2B5EF4-FFF2-40B4-BE49-F238E27FC236}">
                <a16:creationId xmlns:a16="http://schemas.microsoft.com/office/drawing/2014/main" id="{AE237C7A-513B-46BB-9158-12CD661CB1A9}"/>
              </a:ext>
            </a:extLst>
          </p:cNvPr>
          <p:cNvSpPr/>
          <p:nvPr/>
        </p:nvSpPr>
        <p:spPr>
          <a:xfrm xmlns:a="http://schemas.openxmlformats.org/drawingml/2006/main" rot="0">
            <a:off x="10743819" y="7952898"/>
            <a:ext cx="4039362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估计、参考与跟踪误差传递</a:t>
            </a:r>
          </a:p>
        </p:txBody>
      </p:sp>
      <p:sp>
        <p:nvSpPr>
          <p:cNvPr id="52" name="source-52-text">
            <a:extLst xmlns:a="http://schemas.openxmlformats.org/drawingml/2006/main">
              <a:ext uri="{FF2B5EF4-FFF2-40B4-BE49-F238E27FC236}">
                <a16:creationId xmlns:a16="http://schemas.microsoft.com/office/drawing/2014/main" id="{F9D60EE3-51B4-48E9-91C9-69755668FC6E}"/>
              </a:ext>
            </a:extLst>
          </p:cNvPr>
          <p:cNvSpPr/>
          <p:nvPr/>
        </p:nvSpPr>
        <p:spPr>
          <a:xfrm xmlns:a="http://schemas.openxmlformats.org/drawingml/2006/main" rot="0">
            <a:off x="10914507" y="8352948"/>
            <a:ext cx="3702748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参考修正与驱动能力匹配</a:t>
            </a:r>
          </a:p>
        </p:txBody>
      </p:sp>
      <p:sp>
        <p:nvSpPr>
          <p:cNvPr id="53" name="source-53-path">
            <a:extLst xmlns:a="http://schemas.openxmlformats.org/drawingml/2006/main">
              <a:ext uri="{FF2B5EF4-FFF2-40B4-BE49-F238E27FC236}">
                <a16:creationId xmlns:a16="http://schemas.microsoft.com/office/drawing/2014/main" id="{547F5B0D-9840-4C8F-AF1B-CDFC23371645}"/>
              </a:ext>
            </a:extLst>
          </p:cNvPr>
          <p:cNvSpPr/>
          <p:nvPr/>
        </p:nvSpPr>
        <p:spPr>
          <a:xfrm xmlns:a="http://schemas.openxmlformats.org/drawingml/2006/main">
            <a:off x="4381500" y="5029200"/>
            <a:ext cx="9525" cy="333375"/>
          </a:xfrm>
          <a:custGeom xmlns:a="http://schemas.openxmlformats.org/drawingml/2006/main">
            <a:pathLst>
              <a:path w="9525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C7E"/>
            </a:solidFill>
            <a:prstDash val="solid"/>
          </a:ln>
        </p:spPr>
      </p:sp>
      <p:sp>
        <p:nvSpPr>
          <p:cNvPr id="54" name="source-53-path-arrowhead">
            <a:extLst xmlns:a="http://schemas.openxmlformats.org/drawingml/2006/main">
              <a:ext uri="{FF2B5EF4-FFF2-40B4-BE49-F238E27FC236}">
                <a16:creationId xmlns:a16="http://schemas.microsoft.com/office/drawing/2014/main" id="{A678CA6C-268D-43B3-8FAD-23871753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113" y="5275263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 xmlns:a="http://schemas.openxmlformats.org/drawingml/2006/main">
            <a:srgbClr val="365C7E"/>
          </a:solidFill>
          <a:ln xmlns:a="http://schemas.openxmlformats.org/drawingml/2006/main" w="0">
            <a:noFill/>
          </a:ln>
        </p:spPr>
      </p:sp>
      <p:sp>
        <p:nvSpPr>
          <p:cNvPr id="55" name="source-54-path">
            <a:extLst xmlns:a="http://schemas.openxmlformats.org/drawingml/2006/main">
              <a:ext uri="{FF2B5EF4-FFF2-40B4-BE49-F238E27FC236}">
                <a16:creationId xmlns:a16="http://schemas.microsoft.com/office/drawing/2014/main" id="{F3E7FA70-2A0E-40DB-9724-50BB14ACD27F}"/>
              </a:ext>
            </a:extLst>
          </p:cNvPr>
          <p:cNvSpPr/>
          <p:nvPr/>
        </p:nvSpPr>
        <p:spPr>
          <a:xfrm xmlns:a="http://schemas.openxmlformats.org/drawingml/2006/main">
            <a:off x="4381500" y="6953250"/>
            <a:ext cx="9525" cy="333375"/>
          </a:xfrm>
          <a:custGeom xmlns:a="http://schemas.openxmlformats.org/drawingml/2006/main">
            <a:pathLst>
              <a:path w="9525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C7E"/>
            </a:solidFill>
            <a:prstDash val="solid"/>
          </a:ln>
        </p:spPr>
      </p:sp>
      <p:sp>
        <p:nvSpPr>
          <p:cNvPr id="56" name="source-54-path-arrowhead">
            <a:extLst xmlns:a="http://schemas.openxmlformats.org/drawingml/2006/main">
              <a:ext uri="{FF2B5EF4-FFF2-40B4-BE49-F238E27FC236}">
                <a16:creationId xmlns:a16="http://schemas.microsoft.com/office/drawing/2014/main" id="{90DC2648-FB95-4E89-9D26-B2E86B27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113" y="7199313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 xmlns:a="http://schemas.openxmlformats.org/drawingml/2006/main">
            <a:srgbClr val="365C7E"/>
          </a:solidFill>
          <a:ln xmlns:a="http://schemas.openxmlformats.org/drawingml/2006/main" w="0">
            <a:noFill/>
          </a:ln>
        </p:spPr>
      </p:sp>
      <p:sp>
        <p:nvSpPr>
          <p:cNvPr id="57" name="source-55-path">
            <a:extLst xmlns:a="http://schemas.openxmlformats.org/drawingml/2006/main">
              <a:ext uri="{FF2B5EF4-FFF2-40B4-BE49-F238E27FC236}">
                <a16:creationId xmlns:a16="http://schemas.microsoft.com/office/drawing/2014/main" id="{7E5E6E33-388C-47E3-AB2F-3847D4354EBA}"/>
              </a:ext>
            </a:extLst>
          </p:cNvPr>
          <p:cNvSpPr/>
          <p:nvPr/>
        </p:nvSpPr>
        <p:spPr>
          <a:xfrm xmlns:a="http://schemas.openxmlformats.org/drawingml/2006/main">
            <a:off x="12763500" y="5029200"/>
            <a:ext cx="9525" cy="333375"/>
          </a:xfrm>
          <a:custGeom xmlns:a="http://schemas.openxmlformats.org/drawingml/2006/main">
            <a:pathLst>
              <a:path w="9525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97570"/>
            </a:solidFill>
            <a:prstDash val="solid"/>
          </a:ln>
        </p:spPr>
      </p:sp>
      <p:sp>
        <p:nvSpPr>
          <p:cNvPr id="58" name="source-55-path-arrowhead">
            <a:extLst xmlns:a="http://schemas.openxmlformats.org/drawingml/2006/main">
              <a:ext uri="{FF2B5EF4-FFF2-40B4-BE49-F238E27FC236}">
                <a16:creationId xmlns:a16="http://schemas.microsoft.com/office/drawing/2014/main" id="{E54EB51A-713D-4CBC-8C81-E0778BAC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113" y="5275263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 xmlns:a="http://schemas.openxmlformats.org/drawingml/2006/main">
            <a:srgbClr val="397570"/>
          </a:solidFill>
          <a:ln xmlns:a="http://schemas.openxmlformats.org/drawingml/2006/main" w="0">
            <a:noFill/>
          </a:ln>
        </p:spPr>
      </p:sp>
      <p:sp>
        <p:nvSpPr>
          <p:cNvPr id="59" name="source-56-path">
            <a:extLst xmlns:a="http://schemas.openxmlformats.org/drawingml/2006/main">
              <a:ext uri="{FF2B5EF4-FFF2-40B4-BE49-F238E27FC236}">
                <a16:creationId xmlns:a16="http://schemas.microsoft.com/office/drawing/2014/main" id="{FCD5A09B-B5C6-489A-8EFF-71E75085DBE2}"/>
              </a:ext>
            </a:extLst>
          </p:cNvPr>
          <p:cNvSpPr/>
          <p:nvPr/>
        </p:nvSpPr>
        <p:spPr>
          <a:xfrm xmlns:a="http://schemas.openxmlformats.org/drawingml/2006/main">
            <a:off x="12763500" y="6953250"/>
            <a:ext cx="9525" cy="333375"/>
          </a:xfrm>
          <a:custGeom xmlns:a="http://schemas.openxmlformats.org/drawingml/2006/main">
            <a:pathLst>
              <a:path w="9525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97570"/>
            </a:solidFill>
            <a:prstDash val="solid"/>
          </a:ln>
        </p:spPr>
      </p:sp>
      <p:sp>
        <p:nvSpPr>
          <p:cNvPr id="60" name="source-56-path-arrowhead">
            <a:extLst xmlns:a="http://schemas.openxmlformats.org/drawingml/2006/main">
              <a:ext uri="{FF2B5EF4-FFF2-40B4-BE49-F238E27FC236}">
                <a16:creationId xmlns:a16="http://schemas.microsoft.com/office/drawing/2014/main" id="{20812EF6-BF1B-4730-97CE-FF706D8C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113" y="7199313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 xmlns:a="http://schemas.openxmlformats.org/drawingml/2006/main">
            <a:srgbClr val="397570"/>
          </a:solidFill>
          <a:ln xmlns:a="http://schemas.openxmlformats.org/drawingml/2006/main" w="0">
            <a:noFill/>
          </a:ln>
        </p:spPr>
      </p:sp>
      <p:sp>
        <p:nvSpPr>
          <p:cNvPr id="61" name="source-57-text">
            <a:extLst xmlns:a="http://schemas.openxmlformats.org/drawingml/2006/main">
              <a:ext uri="{FF2B5EF4-FFF2-40B4-BE49-F238E27FC236}">
                <a16:creationId xmlns:a16="http://schemas.microsoft.com/office/drawing/2014/main" id="{75641B7C-1BC8-48CC-9E2E-28080C6334AC}"/>
              </a:ext>
            </a:extLst>
          </p:cNvPr>
          <p:cNvSpPr/>
          <p:nvPr/>
        </p:nvSpPr>
        <p:spPr>
          <a:xfrm xmlns:a="http://schemas.openxmlformats.org/drawingml/2006/main" rot="0">
            <a:off x="2864358" y="8962548"/>
            <a:ext cx="3029521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65C7E"/>
                </a:solidFill>
                <a:latin typeface="Microsoft YaHei"/>
                <a:ea typeface="Microsoft YaHei"/>
                <a:cs typeface="Microsoft YaHei"/>
              </a:rPr>
              <a:t>受约束运动控制方法</a:t>
            </a:r>
          </a:p>
        </p:txBody>
      </p:sp>
      <p:sp>
        <p:nvSpPr>
          <p:cNvPr id="62" name="source-58-text">
            <a:extLst xmlns:a="http://schemas.openxmlformats.org/drawingml/2006/main">
              <a:ext uri="{FF2B5EF4-FFF2-40B4-BE49-F238E27FC236}">
                <a16:creationId xmlns:a16="http://schemas.microsoft.com/office/drawing/2014/main" id="{A8BD0108-3F61-4899-ADB2-24A01169959A}"/>
              </a:ext>
            </a:extLst>
          </p:cNvPr>
          <p:cNvSpPr/>
          <p:nvPr/>
        </p:nvSpPr>
        <p:spPr>
          <a:xfrm xmlns:a="http://schemas.openxmlformats.org/drawingml/2006/main" rot="0">
            <a:off x="10914507" y="8962548"/>
            <a:ext cx="3702748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3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97570"/>
                </a:solidFill>
                <a:latin typeface="Microsoft YaHei"/>
                <a:ea typeface="Microsoft YaHei"/>
                <a:cs typeface="Microsoft YaHei"/>
              </a:rPr>
              <a:t>接触引导与执行协调方法</a:t>
            </a:r>
          </a:p>
        </p:txBody>
      </p:sp>
      <p:sp>
        <p:nvSpPr>
          <p:cNvPr id="63" name="source-59-text">
            <a:extLst xmlns:a="http://schemas.openxmlformats.org/drawingml/2006/main">
              <a:ext uri="{FF2B5EF4-FFF2-40B4-BE49-F238E27FC236}">
                <a16:creationId xmlns:a16="http://schemas.microsoft.com/office/drawing/2014/main" id="{21287F67-1297-4E66-92F1-D91C5743162C}"/>
              </a:ext>
            </a:extLst>
          </p:cNvPr>
          <p:cNvSpPr/>
          <p:nvPr/>
        </p:nvSpPr>
        <p:spPr>
          <a:xfrm xmlns:a="http://schemas.openxmlformats.org/drawingml/2006/main" rot="0">
            <a:off x="7715250" y="548640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rPr>
              <a:t>位姿及导数</a:t>
            </a:r>
          </a:p>
        </p:txBody>
      </p:sp>
      <p:sp>
        <p:nvSpPr>
          <p:cNvPr id="64" name="source-60-text">
            <a:extLst xmlns:a="http://schemas.openxmlformats.org/drawingml/2006/main">
              <a:ext uri="{FF2B5EF4-FFF2-40B4-BE49-F238E27FC236}">
                <a16:creationId xmlns:a16="http://schemas.microsoft.com/office/drawing/2014/main" id="{6DD4351F-C549-45A2-8D29-BC41AC4EE759}"/>
              </a:ext>
            </a:extLst>
          </p:cNvPr>
          <p:cNvSpPr/>
          <p:nvPr/>
        </p:nvSpPr>
        <p:spPr>
          <a:xfrm xmlns:a="http://schemas.openxmlformats.org/drawingml/2006/main" rot="0">
            <a:off x="7715250" y="5876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rPr>
              <a:t>参考</a:t>
            </a:r>
          </a:p>
        </p:txBody>
      </p:sp>
      <p:sp>
        <p:nvSpPr>
          <p:cNvPr id="65" name="source-61-path">
            <a:extLst xmlns:a="http://schemas.openxmlformats.org/drawingml/2006/main">
              <a:ext uri="{FF2B5EF4-FFF2-40B4-BE49-F238E27FC236}">
                <a16:creationId xmlns:a16="http://schemas.microsoft.com/office/drawing/2014/main" id="{71DDC321-D5E8-43FF-B1A0-BDDC682353AD}"/>
              </a:ext>
            </a:extLst>
          </p:cNvPr>
          <p:cNvSpPr/>
          <p:nvPr/>
        </p:nvSpPr>
        <p:spPr>
          <a:xfrm xmlns:a="http://schemas.openxmlformats.org/drawingml/2006/main">
            <a:off x="7543800" y="6429375"/>
            <a:ext cx="2324100" cy="9525"/>
          </a:xfrm>
          <a:custGeom xmlns:a="http://schemas.openxmlformats.org/drawingml/2006/main">
            <a:pathLst>
              <a:path w="2324100" h="9525">
                <a:moveTo>
                  <a:pt x="23241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A77633"/>
            </a:solidFill>
            <a:prstDash val="solid"/>
          </a:ln>
        </p:spPr>
      </p:sp>
      <p:sp>
        <p:nvSpPr>
          <p:cNvPr id="66" name="source-61-path-arrowhead">
            <a:extLst xmlns:a="http://schemas.openxmlformats.org/drawingml/2006/main">
              <a:ext uri="{FF2B5EF4-FFF2-40B4-BE49-F238E27FC236}">
                <a16:creationId xmlns:a16="http://schemas.microsoft.com/office/drawing/2014/main" id="{856AF681-D473-477D-8151-57FAA050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6338" y="6376988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104775"/>
                </a:moveTo>
                <a:lnTo>
                  <a:pt x="0" y="52388"/>
                </a:lnTo>
                <a:lnTo>
                  <a:pt x="104775" y="0"/>
                </a:lnTo>
                <a:lnTo>
                  <a:pt x="78581" y="52388"/>
                </a:lnTo>
                <a:close/>
              </a:path>
            </a:pathLst>
          </a:custGeom>
          <a:solidFill xmlns:a="http://schemas.openxmlformats.org/drawingml/2006/main">
            <a:srgbClr val="A77633"/>
          </a:solidFill>
          <a:ln xmlns:a="http://schemas.openxmlformats.org/drawingml/2006/main" w="0">
            <a:noFill/>
          </a:ln>
        </p:spPr>
      </p:sp>
      <p:sp>
        <p:nvSpPr>
          <p:cNvPr id="67" name="source-62-text">
            <a:extLst xmlns:a="http://schemas.openxmlformats.org/drawingml/2006/main">
              <a:ext uri="{FF2B5EF4-FFF2-40B4-BE49-F238E27FC236}">
                <a16:creationId xmlns:a16="http://schemas.microsoft.com/office/drawing/2014/main" id="{12C09821-6202-4BE2-B516-0891FA06F875}"/>
              </a:ext>
            </a:extLst>
          </p:cNvPr>
          <p:cNvSpPr/>
          <p:nvPr/>
        </p:nvSpPr>
        <p:spPr>
          <a:xfrm xmlns:a="http://schemas.openxmlformats.org/drawingml/2006/main" rot="0">
            <a:off x="7715250" y="74390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rPr>
              <a:t>实际运动与</a:t>
            </a:r>
          </a:p>
        </p:txBody>
      </p:sp>
      <p:sp>
        <p:nvSpPr>
          <p:cNvPr id="68" name="source-63-text">
            <a:extLst xmlns:a="http://schemas.openxmlformats.org/drawingml/2006/main">
              <a:ext uri="{FF2B5EF4-FFF2-40B4-BE49-F238E27FC236}">
                <a16:creationId xmlns:a16="http://schemas.microsoft.com/office/drawing/2014/main" id="{F3C16460-DA5E-422A-BFC8-DB49601455F9}"/>
              </a:ext>
            </a:extLst>
          </p:cNvPr>
          <p:cNvSpPr/>
          <p:nvPr/>
        </p:nvSpPr>
        <p:spPr>
          <a:xfrm xmlns:a="http://schemas.openxmlformats.org/drawingml/2006/main" rot="0">
            <a:off x="7715250" y="78295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A77633"/>
                </a:solidFill>
                <a:latin typeface="Microsoft YaHei"/>
                <a:ea typeface="Microsoft YaHei"/>
                <a:cs typeface="Microsoft YaHei"/>
              </a:rPr>
              <a:t>约束反馈</a:t>
            </a:r>
          </a:p>
        </p:txBody>
      </p:sp>
      <p:sp>
        <p:nvSpPr>
          <p:cNvPr id="69" name="source-64-path">
            <a:extLst xmlns:a="http://schemas.openxmlformats.org/drawingml/2006/main">
              <a:ext uri="{FF2B5EF4-FFF2-40B4-BE49-F238E27FC236}">
                <a16:creationId xmlns:a16="http://schemas.microsoft.com/office/drawing/2014/main" id="{58C6755B-7216-4804-98AC-0BAF54B01159}"/>
              </a:ext>
            </a:extLst>
          </p:cNvPr>
          <p:cNvSpPr/>
          <p:nvPr/>
        </p:nvSpPr>
        <p:spPr>
          <a:xfrm xmlns:a="http://schemas.openxmlformats.org/drawingml/2006/main">
            <a:off x="7277100" y="8382000"/>
            <a:ext cx="2581275" cy="9525"/>
          </a:xfrm>
          <a:custGeom xmlns:a="http://schemas.openxmlformats.org/drawingml/2006/main">
            <a:pathLst>
              <a:path w="2581275" h="9525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A77633"/>
            </a:solidFill>
            <a:prstDash val="solid"/>
          </a:ln>
        </p:spPr>
      </p:sp>
      <p:sp>
        <p:nvSpPr>
          <p:cNvPr id="70" name="source-64-path-arrowhead">
            <a:extLst xmlns:a="http://schemas.openxmlformats.org/drawingml/2006/main">
              <a:ext uri="{FF2B5EF4-FFF2-40B4-BE49-F238E27FC236}">
                <a16:creationId xmlns:a16="http://schemas.microsoft.com/office/drawing/2014/main" id="{ECEDB2C3-7824-40F6-BAC7-7353ECC9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063" y="8329613"/>
            <a:ext cx="104775" cy="104775"/>
          </a:xfrm>
          <a:custGeom xmlns:a="http://schemas.openxmlformats.org/drawingml/2006/main">
            <a:pathLst>
              <a:path w="104775" h="104775">
                <a:moveTo>
                  <a:pt x="0" y="0"/>
                </a:moveTo>
                <a:lnTo>
                  <a:pt x="104775" y="52388"/>
                </a:lnTo>
                <a:lnTo>
                  <a:pt x="0" y="104775"/>
                </a:lnTo>
                <a:lnTo>
                  <a:pt x="26194" y="52388"/>
                </a:lnTo>
                <a:close/>
              </a:path>
            </a:pathLst>
          </a:custGeom>
          <a:solidFill xmlns:a="http://schemas.openxmlformats.org/drawingml/2006/main">
            <a:srgbClr val="A77633"/>
          </a:solidFill>
          <a:ln xmlns:a="http://schemas.openxmlformats.org/drawingml/2006/main" w="0">
            <a:noFill/>
          </a:ln>
        </p:spPr>
      </p:sp>
      <p:sp>
        <p:nvSpPr>
          <p:cNvPr id="71" name="source-65-path">
            <a:extLst xmlns:a="http://schemas.openxmlformats.org/drawingml/2006/main">
              <a:ext uri="{FF2B5EF4-FFF2-40B4-BE49-F238E27FC236}">
                <a16:creationId xmlns:a16="http://schemas.microsoft.com/office/drawing/2014/main" id="{5772A3B0-4AD8-400D-B92A-538AE9CC3ADB}"/>
              </a:ext>
            </a:extLst>
          </p:cNvPr>
          <p:cNvSpPr/>
          <p:nvPr/>
        </p:nvSpPr>
        <p:spPr>
          <a:xfrm xmlns:a="http://schemas.openxmlformats.org/drawingml/2006/main">
            <a:off x="4381500" y="9439275"/>
            <a:ext cx="9525" cy="523875"/>
          </a:xfrm>
          <a:custGeom xmlns:a="http://schemas.openxmlformats.org/drawingml/2006/main">
            <a:pathLst>
              <a:path w="9525" h="523875">
                <a:moveTo>
                  <a:pt x="0" y="0"/>
                </a:move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C7E"/>
            </a:solidFill>
            <a:prstDash val="solid"/>
          </a:ln>
        </p:spPr>
      </p:sp>
      <p:sp>
        <p:nvSpPr>
          <p:cNvPr id="72" name="source-65-path-arrowhead">
            <a:extLst xmlns:a="http://schemas.openxmlformats.org/drawingml/2006/main">
              <a:ext uri="{FF2B5EF4-FFF2-40B4-BE49-F238E27FC236}">
                <a16:creationId xmlns:a16="http://schemas.microsoft.com/office/drawing/2014/main" id="{FACEAC74-F20C-4EC8-9456-B6376E72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113" y="9875838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 xmlns:a="http://schemas.openxmlformats.org/drawingml/2006/main">
            <a:srgbClr val="365C7E"/>
          </a:solidFill>
          <a:ln xmlns:a="http://schemas.openxmlformats.org/drawingml/2006/main" w="0">
            <a:noFill/>
          </a:ln>
        </p:spPr>
      </p:sp>
      <p:sp>
        <p:nvSpPr>
          <p:cNvPr id="73" name="source-66-path">
            <a:extLst xmlns:a="http://schemas.openxmlformats.org/drawingml/2006/main">
              <a:ext uri="{FF2B5EF4-FFF2-40B4-BE49-F238E27FC236}">
                <a16:creationId xmlns:a16="http://schemas.microsoft.com/office/drawing/2014/main" id="{E759162D-FCA3-4FA0-98F2-B99F354F720D}"/>
              </a:ext>
            </a:extLst>
          </p:cNvPr>
          <p:cNvSpPr/>
          <p:nvPr/>
        </p:nvSpPr>
        <p:spPr>
          <a:xfrm xmlns:a="http://schemas.openxmlformats.org/drawingml/2006/main">
            <a:off x="12763500" y="9439275"/>
            <a:ext cx="9525" cy="523875"/>
          </a:xfrm>
          <a:custGeom xmlns:a="http://schemas.openxmlformats.org/drawingml/2006/main">
            <a:pathLst>
              <a:path w="9525" h="523875">
                <a:moveTo>
                  <a:pt x="0" y="0"/>
                </a:move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97570"/>
            </a:solidFill>
            <a:prstDash val="solid"/>
          </a:ln>
        </p:spPr>
      </p:sp>
      <p:sp>
        <p:nvSpPr>
          <p:cNvPr id="74" name="source-66-path-arrowhead">
            <a:extLst xmlns:a="http://schemas.openxmlformats.org/drawingml/2006/main">
              <a:ext uri="{FF2B5EF4-FFF2-40B4-BE49-F238E27FC236}">
                <a16:creationId xmlns:a16="http://schemas.microsoft.com/office/drawing/2014/main" id="{E81E7B1C-463C-4268-8DB2-5C964BDC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113" y="9875838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0"/>
                </a:moveTo>
                <a:lnTo>
                  <a:pt x="52388" y="104775"/>
                </a:lnTo>
                <a:lnTo>
                  <a:pt x="0" y="0"/>
                </a:lnTo>
                <a:lnTo>
                  <a:pt x="52388" y="26194"/>
                </a:lnTo>
                <a:close/>
              </a:path>
            </a:pathLst>
          </a:custGeom>
          <a:solidFill xmlns:a="http://schemas.openxmlformats.org/drawingml/2006/main">
            <a:srgbClr val="397570"/>
          </a:solidFill>
          <a:ln xmlns:a="http://schemas.openxmlformats.org/drawingml/2006/main" w="0">
            <a:noFill/>
          </a:ln>
        </p:spPr>
      </p:sp>
      <p:sp>
        <p:nvSpPr>
          <p:cNvPr id="75" name="source-67-rect">
            <a:extLst xmlns:a="http://schemas.openxmlformats.org/drawingml/2006/main">
              <a:ext uri="{FF2B5EF4-FFF2-40B4-BE49-F238E27FC236}">
                <a16:creationId xmlns:a16="http://schemas.microsoft.com/office/drawing/2014/main" id="{3DD2AB22-5446-4EDD-B689-3A7857112F34}"/>
              </a:ext>
            </a:extLst>
          </p:cNvPr>
          <p:cNvSpPr/>
          <p:nvPr/>
        </p:nvSpPr>
        <p:spPr>
          <a:xfrm xmlns:a="http://schemas.openxmlformats.org/drawingml/2006/main">
            <a:off x="1257300" y="10001250"/>
            <a:ext cx="1463040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AF7F0"/>
          </a:solidFill>
          <a:ln xmlns:a="http://schemas.openxmlformats.org/drawingml/2006/main" w="19050">
            <a:solidFill>
              <a:srgbClr val="966F38"/>
            </a:solidFill>
            <a:prstDash val="solid"/>
          </a:ln>
        </p:spPr>
      </p:sp>
      <p:sp>
        <p:nvSpPr>
          <p:cNvPr id="76" name="source-68-rect">
            <a:extLst xmlns:a="http://schemas.openxmlformats.org/drawingml/2006/main">
              <a:ext uri="{FF2B5EF4-FFF2-40B4-BE49-F238E27FC236}">
                <a16:creationId xmlns:a16="http://schemas.microsoft.com/office/drawing/2014/main" id="{3DA38E9B-F945-4450-B075-CC0F073927C3}"/>
              </a:ext>
            </a:extLst>
          </p:cNvPr>
          <p:cNvSpPr/>
          <p:nvPr/>
        </p:nvSpPr>
        <p:spPr>
          <a:xfrm xmlns:a="http://schemas.openxmlformats.org/drawingml/2006/main">
            <a:off x="1257300" y="10001250"/>
            <a:ext cx="14630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966F38"/>
          </a:solidFill>
          <a:ln xmlns:a="http://schemas.openxmlformats.org/drawingml/2006/main" w="9525">
            <a:solidFill>
              <a:srgbClr val="966F38"/>
            </a:solidFill>
            <a:prstDash val="solid"/>
          </a:ln>
        </p:spPr>
      </p:sp>
      <p:sp>
        <p:nvSpPr>
          <p:cNvPr id="77" name="source-69-rect">
            <a:extLst xmlns:a="http://schemas.openxmlformats.org/drawingml/2006/main">
              <a:ext uri="{FF2B5EF4-FFF2-40B4-BE49-F238E27FC236}">
                <a16:creationId xmlns:a16="http://schemas.microsoft.com/office/drawing/2014/main" id="{EB2314B6-41B8-4FE1-B5F3-EDF82413B7CF}"/>
              </a:ext>
            </a:extLst>
          </p:cNvPr>
          <p:cNvSpPr/>
          <p:nvPr/>
        </p:nvSpPr>
        <p:spPr>
          <a:xfrm xmlns:a="http://schemas.openxmlformats.org/drawingml/2006/main">
            <a:off x="1257300" y="10448925"/>
            <a:ext cx="14630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6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source-70-text">
            <a:extLst xmlns:a="http://schemas.openxmlformats.org/drawingml/2006/main">
              <a:ext uri="{FF2B5EF4-FFF2-40B4-BE49-F238E27FC236}">
                <a16:creationId xmlns:a16="http://schemas.microsoft.com/office/drawing/2014/main" id="{2280BFE6-97DF-4813-95A0-462E1DAB9E1C}"/>
              </a:ext>
            </a:extLst>
          </p:cNvPr>
          <p:cNvSpPr/>
          <p:nvPr/>
        </p:nvSpPr>
        <p:spPr>
          <a:xfrm xmlns:a="http://schemas.openxmlformats.org/drawingml/2006/main" rot="0">
            <a:off x="5564028" y="10128885"/>
            <a:ext cx="6026467" cy="563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研究内容三　地面实验与集成验证</a:t>
            </a:r>
          </a:p>
        </p:txBody>
      </p:sp>
      <p:sp>
        <p:nvSpPr>
          <p:cNvPr id="79" name="source-71-text">
            <a:extLst xmlns:a="http://schemas.openxmlformats.org/drawingml/2006/main">
              <a:ext uri="{FF2B5EF4-FFF2-40B4-BE49-F238E27FC236}">
                <a16:creationId xmlns:a16="http://schemas.microsoft.com/office/drawing/2014/main" id="{CB5A8695-94C6-4EF4-8F34-5D0478B1A436}"/>
              </a:ext>
            </a:extLst>
          </p:cNvPr>
          <p:cNvSpPr/>
          <p:nvPr/>
        </p:nvSpPr>
        <p:spPr>
          <a:xfrm xmlns:a="http://schemas.openxmlformats.org/drawingml/2006/main" rot="0">
            <a:off x="4270153" y="10842784"/>
            <a:ext cx="8599932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47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基座运动复现　·　多源同步观测　·　独立精度评价</a:t>
            </a:r>
          </a:p>
        </p:txBody>
      </p:sp>
      <p:sp>
        <p:nvSpPr>
          <p:cNvPr id="80" name="source-72-rect">
            <a:extLst xmlns:a="http://schemas.openxmlformats.org/drawingml/2006/main">
              <a:ext uri="{FF2B5EF4-FFF2-40B4-BE49-F238E27FC236}">
                <a16:creationId xmlns:a16="http://schemas.microsoft.com/office/drawing/2014/main" id="{6E60D64C-F5DC-4CB8-8E28-F98F12797E1A}"/>
              </a:ext>
            </a:extLst>
          </p:cNvPr>
          <p:cNvSpPr/>
          <p:nvPr/>
        </p:nvSpPr>
        <p:spPr>
          <a:xfrm xmlns:a="http://schemas.openxmlformats.org/drawingml/2006/main">
            <a:off x="1524000" y="11391900"/>
            <a:ext cx="4191000" cy="1162050"/>
          </a:xfrm>
          <a:prstGeom xmlns:a="http://schemas.openxmlformats.org/drawingml/2006/main" prst="roundRect">
            <a:avLst>
              <a:gd name="adj" fmla="val 40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D6C7AC"/>
            </a:solidFill>
            <a:prstDash val="solid"/>
          </a:ln>
        </p:spPr>
      </p:sp>
      <p:sp>
        <p:nvSpPr>
          <p:cNvPr id="81" name="source-73-text">
            <a:extLst xmlns:a="http://schemas.openxmlformats.org/drawingml/2006/main">
              <a:ext uri="{FF2B5EF4-FFF2-40B4-BE49-F238E27FC236}">
                <a16:creationId xmlns:a16="http://schemas.microsoft.com/office/drawing/2014/main" id="{B796CC3D-D1D2-4BBB-BFA1-7160AA15056C}"/>
              </a:ext>
            </a:extLst>
          </p:cNvPr>
          <p:cNvSpPr/>
          <p:nvPr/>
        </p:nvSpPr>
        <p:spPr>
          <a:xfrm xmlns:a="http://schemas.openxmlformats.org/drawingml/2006/main" rot="0">
            <a:off x="2055876" y="11457622"/>
            <a:ext cx="312724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rPr>
              <a:t>模型与运动控制验证</a:t>
            </a:r>
          </a:p>
        </p:txBody>
      </p:sp>
      <p:sp>
        <p:nvSpPr>
          <p:cNvPr id="82" name="source-74-text">
            <a:extLst xmlns:a="http://schemas.openxmlformats.org/drawingml/2006/main">
              <a:ext uri="{FF2B5EF4-FFF2-40B4-BE49-F238E27FC236}">
                <a16:creationId xmlns:a16="http://schemas.microsoft.com/office/drawing/2014/main" id="{96F103AE-20B7-456A-A3AC-406C3F2FF535}"/>
              </a:ext>
            </a:extLst>
          </p:cNvPr>
          <p:cNvSpPr/>
          <p:nvPr/>
        </p:nvSpPr>
        <p:spPr>
          <a:xfrm xmlns:a="http://schemas.openxmlformats.org/drawingml/2006/main" rot="0">
            <a:off x="1827848" y="11849100"/>
            <a:ext cx="358330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位姿保持 · 轨迹跟踪</a:t>
            </a:r>
          </a:p>
        </p:txBody>
      </p:sp>
      <p:sp>
        <p:nvSpPr>
          <p:cNvPr id="83" name="source-75-text">
            <a:extLst xmlns:a="http://schemas.openxmlformats.org/drawingml/2006/main">
              <a:ext uri="{FF2B5EF4-FFF2-40B4-BE49-F238E27FC236}">
                <a16:creationId xmlns:a16="http://schemas.microsoft.com/office/drawing/2014/main" id="{3D094E90-9095-4B3D-BE65-9B73E5673825}"/>
              </a:ext>
            </a:extLst>
          </p:cNvPr>
          <p:cNvSpPr/>
          <p:nvPr/>
        </p:nvSpPr>
        <p:spPr>
          <a:xfrm xmlns:a="http://schemas.openxmlformats.org/drawingml/2006/main" rot="0">
            <a:off x="1990725" y="12182475"/>
            <a:ext cx="3257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误差响应 · 实时性</a:t>
            </a:r>
          </a:p>
        </p:txBody>
      </p:sp>
      <p:sp>
        <p:nvSpPr>
          <p:cNvPr id="84" name="source-76-rect">
            <a:extLst xmlns:a="http://schemas.openxmlformats.org/drawingml/2006/main">
              <a:ext uri="{FF2B5EF4-FFF2-40B4-BE49-F238E27FC236}">
                <a16:creationId xmlns:a16="http://schemas.microsoft.com/office/drawing/2014/main" id="{BD1CE9B7-B715-4F05-9671-23A6F5A75AE0}"/>
              </a:ext>
            </a:extLst>
          </p:cNvPr>
          <p:cNvSpPr/>
          <p:nvPr/>
        </p:nvSpPr>
        <p:spPr>
          <a:xfrm xmlns:a="http://schemas.openxmlformats.org/drawingml/2006/main">
            <a:off x="6477000" y="11391900"/>
            <a:ext cx="4191000" cy="1162050"/>
          </a:xfrm>
          <a:prstGeom xmlns:a="http://schemas.openxmlformats.org/drawingml/2006/main" prst="roundRect">
            <a:avLst>
              <a:gd name="adj" fmla="val 40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D6C7AC"/>
            </a:solidFill>
            <a:prstDash val="solid"/>
          </a:ln>
        </p:spPr>
      </p:sp>
      <p:sp>
        <p:nvSpPr>
          <p:cNvPr id="85" name="source-77-text">
            <a:extLst xmlns:a="http://schemas.openxmlformats.org/drawingml/2006/main">
              <a:ext uri="{FF2B5EF4-FFF2-40B4-BE49-F238E27FC236}">
                <a16:creationId xmlns:a16="http://schemas.microsoft.com/office/drawing/2014/main" id="{141BA03F-F146-4837-BE86-C0F13C216AC4}"/>
              </a:ext>
            </a:extLst>
          </p:cNvPr>
          <p:cNvSpPr/>
          <p:nvPr/>
        </p:nvSpPr>
        <p:spPr>
          <a:xfrm xmlns:a="http://schemas.openxmlformats.org/drawingml/2006/main" rot="0">
            <a:off x="7180231" y="11457622"/>
            <a:ext cx="277977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rPr>
              <a:t>接触组装分项对照</a:t>
            </a:r>
          </a:p>
        </p:txBody>
      </p:sp>
      <p:sp>
        <p:nvSpPr>
          <p:cNvPr id="86" name="source-78-text">
            <a:extLst xmlns:a="http://schemas.openxmlformats.org/drawingml/2006/main">
              <a:ext uri="{FF2B5EF4-FFF2-40B4-BE49-F238E27FC236}">
                <a16:creationId xmlns:a16="http://schemas.microsoft.com/office/drawing/2014/main" id="{9ECBCAD5-0468-4500-8F94-833C45D0E4DD}"/>
              </a:ext>
            </a:extLst>
          </p:cNvPr>
          <p:cNvSpPr/>
          <p:nvPr/>
        </p:nvSpPr>
        <p:spPr>
          <a:xfrm xmlns:a="http://schemas.openxmlformats.org/drawingml/2006/main" rot="0">
            <a:off x="6780848" y="11849100"/>
            <a:ext cx="358330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仅配准 · 仅参考修正</a:t>
            </a:r>
          </a:p>
        </p:txBody>
      </p:sp>
      <p:sp>
        <p:nvSpPr>
          <p:cNvPr id="87" name="source-79-text">
            <a:extLst xmlns:a="http://schemas.openxmlformats.org/drawingml/2006/main">
              <a:ext uri="{FF2B5EF4-FFF2-40B4-BE49-F238E27FC236}">
                <a16:creationId xmlns:a16="http://schemas.microsoft.com/office/drawing/2014/main" id="{0CA5A0B6-C4A1-466F-B8DD-12512516304B}"/>
              </a:ext>
            </a:extLst>
          </p:cNvPr>
          <p:cNvSpPr/>
          <p:nvPr/>
        </p:nvSpPr>
        <p:spPr>
          <a:xfrm xmlns:a="http://schemas.openxmlformats.org/drawingml/2006/main" rot="0">
            <a:off x="7106603" y="12182475"/>
            <a:ext cx="293179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联合方法及基准对照</a:t>
            </a:r>
          </a:p>
        </p:txBody>
      </p:sp>
      <p:sp>
        <p:nvSpPr>
          <p:cNvPr id="88" name="source-80-rect">
            <a:extLst xmlns:a="http://schemas.openxmlformats.org/drawingml/2006/main">
              <a:ext uri="{FF2B5EF4-FFF2-40B4-BE49-F238E27FC236}">
                <a16:creationId xmlns:a16="http://schemas.microsoft.com/office/drawing/2014/main" id="{DA326C99-35C5-47ED-9845-F8109A3C27FA}"/>
              </a:ext>
            </a:extLst>
          </p:cNvPr>
          <p:cNvSpPr/>
          <p:nvPr/>
        </p:nvSpPr>
        <p:spPr>
          <a:xfrm xmlns:a="http://schemas.openxmlformats.org/drawingml/2006/main">
            <a:off x="11430000" y="11391900"/>
            <a:ext cx="4191000" cy="1162050"/>
          </a:xfrm>
          <a:prstGeom xmlns:a="http://schemas.openxmlformats.org/drawingml/2006/main" prst="roundRect">
            <a:avLst>
              <a:gd name="adj" fmla="val 40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D6C7AC"/>
            </a:solidFill>
            <a:prstDash val="solid"/>
          </a:ln>
        </p:spPr>
      </p:sp>
      <p:sp>
        <p:nvSpPr>
          <p:cNvPr id="89" name="source-81-text">
            <a:extLst xmlns:a="http://schemas.openxmlformats.org/drawingml/2006/main">
              <a:ext uri="{FF2B5EF4-FFF2-40B4-BE49-F238E27FC236}">
                <a16:creationId xmlns:a16="http://schemas.microsoft.com/office/drawing/2014/main" id="{33F62B6A-777A-4C25-8E4D-23CCA2C3EFBD}"/>
              </a:ext>
            </a:extLst>
          </p:cNvPr>
          <p:cNvSpPr/>
          <p:nvPr/>
        </p:nvSpPr>
        <p:spPr>
          <a:xfrm xmlns:a="http://schemas.openxmlformats.org/drawingml/2006/main" rot="0">
            <a:off x="12135612" y="11457622"/>
            <a:ext cx="277977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66F38"/>
                </a:solidFill>
                <a:latin typeface="Microsoft YaHei"/>
                <a:ea typeface="Microsoft YaHei"/>
                <a:cs typeface="Microsoft YaHei"/>
              </a:rPr>
              <a:t>典型接口集成验证</a:t>
            </a:r>
          </a:p>
        </p:txBody>
      </p:sp>
      <p:sp>
        <p:nvSpPr>
          <p:cNvPr id="90" name="source-82-text">
            <a:extLst xmlns:a="http://schemas.openxmlformats.org/drawingml/2006/main">
              <a:ext uri="{FF2B5EF4-FFF2-40B4-BE49-F238E27FC236}">
                <a16:creationId xmlns:a16="http://schemas.microsoft.com/office/drawing/2014/main" id="{0397A3BE-8151-405F-9645-580085DB3A6D}"/>
              </a:ext>
            </a:extLst>
          </p:cNvPr>
          <p:cNvSpPr/>
          <p:nvPr/>
        </p:nvSpPr>
        <p:spPr>
          <a:xfrm xmlns:a="http://schemas.openxmlformats.org/drawingml/2006/main" rot="0">
            <a:off x="11736229" y="11849100"/>
            <a:ext cx="358330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接近—对准—插接—保持</a:t>
            </a:r>
          </a:p>
        </p:txBody>
      </p:sp>
      <p:sp>
        <p:nvSpPr>
          <p:cNvPr id="91" name="source-83-text">
            <a:extLst xmlns:a="http://schemas.openxmlformats.org/drawingml/2006/main">
              <a:ext uri="{FF2B5EF4-FFF2-40B4-BE49-F238E27FC236}">
                <a16:creationId xmlns:a16="http://schemas.microsoft.com/office/drawing/2014/main" id="{476A2F36-B001-410A-AAF7-DF2DAE95BA77}"/>
              </a:ext>
            </a:extLst>
          </p:cNvPr>
          <p:cNvSpPr/>
          <p:nvPr/>
        </p:nvSpPr>
        <p:spPr>
          <a:xfrm xmlns:a="http://schemas.openxmlformats.org/drawingml/2006/main" rot="0">
            <a:off x="11570970" y="12182475"/>
            <a:ext cx="39090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23342"/>
                </a:solidFill>
                <a:latin typeface="Microsoft YaHei"/>
                <a:ea typeface="Microsoft YaHei"/>
                <a:cs typeface="Microsoft YaHei"/>
              </a:rPr>
              <a:t>到位精度 · 组装成功率</a:t>
            </a:r>
          </a:p>
        </p:txBody>
      </p:sp>
      <p:sp>
        <p:nvSpPr>
          <p:cNvPr id="92" name="source-84-path">
            <a:extLst xmlns:a="http://schemas.openxmlformats.org/drawingml/2006/main">
              <a:ext uri="{FF2B5EF4-FFF2-40B4-BE49-F238E27FC236}">
                <a16:creationId xmlns:a16="http://schemas.microsoft.com/office/drawing/2014/main" id="{309BCBB7-B1B1-47AB-A3EE-CB84E4B2F1D1}"/>
              </a:ext>
            </a:extLst>
          </p:cNvPr>
          <p:cNvSpPr/>
          <p:nvPr/>
        </p:nvSpPr>
        <p:spPr>
          <a:xfrm xmlns:a="http://schemas.openxmlformats.org/drawingml/2006/main">
            <a:off x="5781675" y="11972925"/>
            <a:ext cx="619125" cy="9525"/>
          </a:xfrm>
          <a:custGeom xmlns:a="http://schemas.openxmlformats.org/drawingml/2006/main">
            <a:pathLst>
              <a:path w="619125" h="9525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966F38"/>
            </a:solidFill>
            <a:prstDash val="solid"/>
          </a:ln>
        </p:spPr>
      </p:sp>
      <p:sp>
        <p:nvSpPr>
          <p:cNvPr id="93" name="source-84-path-arrowhead">
            <a:extLst xmlns:a="http://schemas.openxmlformats.org/drawingml/2006/main">
              <a:ext uri="{FF2B5EF4-FFF2-40B4-BE49-F238E27FC236}">
                <a16:creationId xmlns:a16="http://schemas.microsoft.com/office/drawing/2014/main" id="{60CE6FFC-D68A-4306-9C2D-4C33E969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3488" y="11920538"/>
            <a:ext cx="104775" cy="104775"/>
          </a:xfrm>
          <a:custGeom xmlns:a="http://schemas.openxmlformats.org/drawingml/2006/main">
            <a:pathLst>
              <a:path w="104775" h="104775">
                <a:moveTo>
                  <a:pt x="0" y="0"/>
                </a:moveTo>
                <a:lnTo>
                  <a:pt x="104775" y="52388"/>
                </a:lnTo>
                <a:lnTo>
                  <a:pt x="0" y="104775"/>
                </a:lnTo>
                <a:lnTo>
                  <a:pt x="26194" y="52388"/>
                </a:lnTo>
                <a:close/>
              </a:path>
            </a:pathLst>
          </a:custGeom>
          <a:solidFill xmlns:a="http://schemas.openxmlformats.org/drawingml/2006/main">
            <a:srgbClr val="966F38"/>
          </a:solidFill>
          <a:ln xmlns:a="http://schemas.openxmlformats.org/drawingml/2006/main" w="0">
            <a:noFill/>
          </a:ln>
        </p:spPr>
      </p:sp>
      <p:sp>
        <p:nvSpPr>
          <p:cNvPr id="94" name="source-85-path">
            <a:extLst xmlns:a="http://schemas.openxmlformats.org/drawingml/2006/main">
              <a:ext uri="{FF2B5EF4-FFF2-40B4-BE49-F238E27FC236}">
                <a16:creationId xmlns:a16="http://schemas.microsoft.com/office/drawing/2014/main" id="{BCBDAF5D-7532-4E72-9A3C-F87CBF60C01C}"/>
              </a:ext>
            </a:extLst>
          </p:cNvPr>
          <p:cNvSpPr/>
          <p:nvPr/>
        </p:nvSpPr>
        <p:spPr>
          <a:xfrm xmlns:a="http://schemas.openxmlformats.org/drawingml/2006/main">
            <a:off x="10734675" y="11972925"/>
            <a:ext cx="619125" cy="9525"/>
          </a:xfrm>
          <a:custGeom xmlns:a="http://schemas.openxmlformats.org/drawingml/2006/main">
            <a:pathLst>
              <a:path w="619125" h="9525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966F38"/>
            </a:solidFill>
            <a:prstDash val="solid"/>
          </a:ln>
        </p:spPr>
      </p:sp>
      <p:sp>
        <p:nvSpPr>
          <p:cNvPr id="95" name="source-85-path-arrowhead">
            <a:extLst xmlns:a="http://schemas.openxmlformats.org/drawingml/2006/main">
              <a:ext uri="{FF2B5EF4-FFF2-40B4-BE49-F238E27FC236}">
                <a16:creationId xmlns:a16="http://schemas.microsoft.com/office/drawing/2014/main" id="{27C4348E-95AB-41DC-9A9D-D4AE4388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6488" y="11920538"/>
            <a:ext cx="104775" cy="104775"/>
          </a:xfrm>
          <a:custGeom xmlns:a="http://schemas.openxmlformats.org/drawingml/2006/main">
            <a:pathLst>
              <a:path w="104775" h="104775">
                <a:moveTo>
                  <a:pt x="0" y="0"/>
                </a:moveTo>
                <a:lnTo>
                  <a:pt x="104775" y="52388"/>
                </a:lnTo>
                <a:lnTo>
                  <a:pt x="0" y="104775"/>
                </a:lnTo>
                <a:lnTo>
                  <a:pt x="26194" y="52388"/>
                </a:lnTo>
                <a:close/>
              </a:path>
            </a:pathLst>
          </a:custGeom>
          <a:solidFill xmlns:a="http://schemas.openxmlformats.org/drawingml/2006/main">
            <a:srgbClr val="966F38"/>
          </a:solidFill>
          <a:ln xmlns:a="http://schemas.openxmlformats.org/drawingml/2006/main" w="0">
            <a:noFill/>
          </a:ln>
        </p:spPr>
      </p:sp>
      <p:sp>
        <p:nvSpPr>
          <p:cNvPr id="96" name="source-86-text">
            <a:extLst xmlns:a="http://schemas.openxmlformats.org/drawingml/2006/main">
              <a:ext uri="{FF2B5EF4-FFF2-40B4-BE49-F238E27FC236}">
                <a16:creationId xmlns:a16="http://schemas.microsoft.com/office/drawing/2014/main" id="{4FB8BF67-7F18-47EE-B4CF-30F91770010A}"/>
              </a:ext>
            </a:extLst>
          </p:cNvPr>
          <p:cNvSpPr/>
          <p:nvPr/>
        </p:nvSpPr>
        <p:spPr>
          <a:xfrm xmlns:a="http://schemas.openxmlformats.org/drawingml/2006/main" rot="0">
            <a:off x="4500563" y="12582525"/>
            <a:ext cx="814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250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rPr>
              <a:t>静止基座与不同激励对照，检验方法的有效性与适用范围</a:t>
            </a:r>
          </a:p>
        </p:txBody>
      </p:sp>
      <p:sp>
        <p:nvSpPr>
          <p:cNvPr id="97" name="source-87-path">
            <a:extLst xmlns:a="http://schemas.openxmlformats.org/drawingml/2006/main">
              <a:ext uri="{FF2B5EF4-FFF2-40B4-BE49-F238E27FC236}">
                <a16:creationId xmlns:a16="http://schemas.microsoft.com/office/drawing/2014/main" id="{E60E30ED-58A5-4A9D-A780-00FD2069F169}"/>
              </a:ext>
            </a:extLst>
          </p:cNvPr>
          <p:cNvSpPr/>
          <p:nvPr/>
        </p:nvSpPr>
        <p:spPr>
          <a:xfrm xmlns:a="http://schemas.openxmlformats.org/drawingml/2006/main">
            <a:off x="704850" y="4248150"/>
            <a:ext cx="552450" cy="7086600"/>
          </a:xfrm>
          <a:custGeom xmlns:a="http://schemas.openxmlformats.org/drawingml/2006/main">
            <a:pathLst>
              <a:path w="552450" h="7086600">
                <a:moveTo>
                  <a:pt x="552450" y="7086600"/>
                </a:moveTo>
                <a:lnTo>
                  <a:pt x="457200" y="7086600"/>
                </a:lnTo>
                <a:moveTo>
                  <a:pt x="390525" y="7086600"/>
                </a:moveTo>
                <a:lnTo>
                  <a:pt x="295275" y="7086600"/>
                </a:lnTo>
                <a:moveTo>
                  <a:pt x="228600" y="7086600"/>
                </a:moveTo>
                <a:lnTo>
                  <a:pt x="133350" y="7086600"/>
                </a:lnTo>
                <a:moveTo>
                  <a:pt x="66675" y="7086600"/>
                </a:moveTo>
                <a:lnTo>
                  <a:pt x="0" y="7086600"/>
                </a:lnTo>
                <a:moveTo>
                  <a:pt x="0" y="7086600"/>
                </a:moveTo>
                <a:lnTo>
                  <a:pt x="0" y="7058025"/>
                </a:lnTo>
                <a:moveTo>
                  <a:pt x="0" y="6991350"/>
                </a:moveTo>
                <a:lnTo>
                  <a:pt x="0" y="6896100"/>
                </a:lnTo>
                <a:moveTo>
                  <a:pt x="0" y="6829425"/>
                </a:moveTo>
                <a:lnTo>
                  <a:pt x="0" y="6734175"/>
                </a:lnTo>
                <a:moveTo>
                  <a:pt x="0" y="6667500"/>
                </a:moveTo>
                <a:lnTo>
                  <a:pt x="0" y="6572250"/>
                </a:lnTo>
                <a:moveTo>
                  <a:pt x="0" y="6505575"/>
                </a:moveTo>
                <a:lnTo>
                  <a:pt x="0" y="6410325"/>
                </a:lnTo>
                <a:moveTo>
                  <a:pt x="0" y="6343650"/>
                </a:moveTo>
                <a:lnTo>
                  <a:pt x="0" y="6248400"/>
                </a:lnTo>
                <a:moveTo>
                  <a:pt x="0" y="6181725"/>
                </a:moveTo>
                <a:lnTo>
                  <a:pt x="0" y="6086475"/>
                </a:lnTo>
                <a:moveTo>
                  <a:pt x="0" y="6019800"/>
                </a:moveTo>
                <a:lnTo>
                  <a:pt x="0" y="5924550"/>
                </a:lnTo>
                <a:moveTo>
                  <a:pt x="0" y="5857875"/>
                </a:moveTo>
                <a:lnTo>
                  <a:pt x="0" y="5762625"/>
                </a:lnTo>
                <a:moveTo>
                  <a:pt x="0" y="5695950"/>
                </a:moveTo>
                <a:lnTo>
                  <a:pt x="0" y="5600700"/>
                </a:lnTo>
                <a:moveTo>
                  <a:pt x="0" y="5534025"/>
                </a:moveTo>
                <a:lnTo>
                  <a:pt x="0" y="5438775"/>
                </a:lnTo>
                <a:moveTo>
                  <a:pt x="0" y="5372100"/>
                </a:moveTo>
                <a:lnTo>
                  <a:pt x="0" y="5276850"/>
                </a:lnTo>
                <a:moveTo>
                  <a:pt x="0" y="5210175"/>
                </a:moveTo>
                <a:lnTo>
                  <a:pt x="0" y="5114925"/>
                </a:lnTo>
                <a:moveTo>
                  <a:pt x="0" y="5048250"/>
                </a:moveTo>
                <a:lnTo>
                  <a:pt x="0" y="4953000"/>
                </a:lnTo>
                <a:moveTo>
                  <a:pt x="0" y="4886325"/>
                </a:moveTo>
                <a:lnTo>
                  <a:pt x="0" y="4791075"/>
                </a:lnTo>
                <a:moveTo>
                  <a:pt x="0" y="4724400"/>
                </a:moveTo>
                <a:lnTo>
                  <a:pt x="0" y="4629150"/>
                </a:lnTo>
                <a:moveTo>
                  <a:pt x="0" y="4562475"/>
                </a:moveTo>
                <a:lnTo>
                  <a:pt x="0" y="4467225"/>
                </a:lnTo>
                <a:moveTo>
                  <a:pt x="0" y="4400550"/>
                </a:moveTo>
                <a:lnTo>
                  <a:pt x="0" y="4305300"/>
                </a:lnTo>
                <a:moveTo>
                  <a:pt x="0" y="4238625"/>
                </a:moveTo>
                <a:lnTo>
                  <a:pt x="0" y="4143375"/>
                </a:lnTo>
                <a:moveTo>
                  <a:pt x="0" y="4076700"/>
                </a:moveTo>
                <a:lnTo>
                  <a:pt x="0" y="3981450"/>
                </a:lnTo>
                <a:moveTo>
                  <a:pt x="0" y="3914775"/>
                </a:moveTo>
                <a:lnTo>
                  <a:pt x="0" y="3819525"/>
                </a:lnTo>
                <a:moveTo>
                  <a:pt x="0" y="3752850"/>
                </a:moveTo>
                <a:lnTo>
                  <a:pt x="0" y="3657600"/>
                </a:lnTo>
                <a:moveTo>
                  <a:pt x="0" y="3590925"/>
                </a:moveTo>
                <a:lnTo>
                  <a:pt x="0" y="3495675"/>
                </a:lnTo>
                <a:moveTo>
                  <a:pt x="0" y="3429000"/>
                </a:moveTo>
                <a:lnTo>
                  <a:pt x="0" y="3333750"/>
                </a:lnTo>
                <a:moveTo>
                  <a:pt x="0" y="3267075"/>
                </a:moveTo>
                <a:lnTo>
                  <a:pt x="0" y="3171825"/>
                </a:lnTo>
                <a:moveTo>
                  <a:pt x="0" y="3105150"/>
                </a:moveTo>
                <a:lnTo>
                  <a:pt x="0" y="3009900"/>
                </a:lnTo>
                <a:moveTo>
                  <a:pt x="0" y="2943225"/>
                </a:moveTo>
                <a:lnTo>
                  <a:pt x="0" y="2847975"/>
                </a:lnTo>
                <a:moveTo>
                  <a:pt x="0" y="2781300"/>
                </a:moveTo>
                <a:lnTo>
                  <a:pt x="0" y="2686050"/>
                </a:lnTo>
                <a:moveTo>
                  <a:pt x="0" y="2619375"/>
                </a:moveTo>
                <a:lnTo>
                  <a:pt x="0" y="2524125"/>
                </a:lnTo>
                <a:moveTo>
                  <a:pt x="0" y="2457450"/>
                </a:moveTo>
                <a:lnTo>
                  <a:pt x="0" y="2362200"/>
                </a:lnTo>
                <a:moveTo>
                  <a:pt x="0" y="2295525"/>
                </a:moveTo>
                <a:lnTo>
                  <a:pt x="0" y="2200275"/>
                </a:lnTo>
                <a:moveTo>
                  <a:pt x="0" y="2133600"/>
                </a:moveTo>
                <a:lnTo>
                  <a:pt x="0" y="2038350"/>
                </a:lnTo>
                <a:moveTo>
                  <a:pt x="0" y="1971675"/>
                </a:moveTo>
                <a:lnTo>
                  <a:pt x="0" y="1876425"/>
                </a:lnTo>
                <a:moveTo>
                  <a:pt x="0" y="1809750"/>
                </a:moveTo>
                <a:lnTo>
                  <a:pt x="0" y="1714500"/>
                </a:lnTo>
                <a:moveTo>
                  <a:pt x="0" y="1647825"/>
                </a:moveTo>
                <a:lnTo>
                  <a:pt x="0" y="1552575"/>
                </a:lnTo>
                <a:moveTo>
                  <a:pt x="0" y="1485900"/>
                </a:moveTo>
                <a:lnTo>
                  <a:pt x="0" y="1390650"/>
                </a:lnTo>
                <a:moveTo>
                  <a:pt x="0" y="1323975"/>
                </a:moveTo>
                <a:lnTo>
                  <a:pt x="0" y="1228725"/>
                </a:lnTo>
                <a:moveTo>
                  <a:pt x="0" y="1162050"/>
                </a:moveTo>
                <a:lnTo>
                  <a:pt x="0" y="1066800"/>
                </a:lnTo>
                <a:moveTo>
                  <a:pt x="0" y="1000125"/>
                </a:moveTo>
                <a:lnTo>
                  <a:pt x="0" y="904875"/>
                </a:lnTo>
                <a:moveTo>
                  <a:pt x="0" y="838200"/>
                </a:moveTo>
                <a:lnTo>
                  <a:pt x="0" y="742950"/>
                </a:lnTo>
                <a:moveTo>
                  <a:pt x="0" y="676275"/>
                </a:moveTo>
                <a:lnTo>
                  <a:pt x="0" y="581025"/>
                </a:lnTo>
                <a:moveTo>
                  <a:pt x="0" y="514350"/>
                </a:moveTo>
                <a:lnTo>
                  <a:pt x="0" y="419100"/>
                </a:lnTo>
                <a:moveTo>
                  <a:pt x="0" y="352425"/>
                </a:moveTo>
                <a:lnTo>
                  <a:pt x="0" y="257175"/>
                </a:lnTo>
                <a:moveTo>
                  <a:pt x="0" y="190500"/>
                </a:moveTo>
                <a:lnTo>
                  <a:pt x="0" y="95250"/>
                </a:lnTo>
                <a:moveTo>
                  <a:pt x="0" y="28575"/>
                </a:moveTo>
                <a:lnTo>
                  <a:pt x="0" y="0"/>
                </a:lnTo>
                <a:moveTo>
                  <a:pt x="0" y="0"/>
                </a:moveTo>
                <a:lnTo>
                  <a:pt x="66675" y="0"/>
                </a:lnTo>
                <a:moveTo>
                  <a:pt x="133350" y="0"/>
                </a:moveTo>
                <a:lnTo>
                  <a:pt x="228600" y="0"/>
                </a:lnTo>
                <a:moveTo>
                  <a:pt x="295275" y="0"/>
                </a:moveTo>
                <a:lnTo>
                  <a:pt x="390525" y="0"/>
                </a:lnTo>
                <a:moveTo>
                  <a:pt x="457200" y="0"/>
                </a:moveTo>
                <a:lnTo>
                  <a:pt x="495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 cap="flat">
            <a:solidFill>
              <a:srgbClr val="566C7B"/>
            </a:solidFill>
            <a:prstDash val="solid"/>
          </a:ln>
        </p:spPr>
      </p:sp>
      <p:sp>
        <p:nvSpPr>
          <p:cNvPr id="98" name="source-87-path-arrowhead">
            <a:extLst xmlns:a="http://schemas.openxmlformats.org/drawingml/2006/main">
              <a:ext uri="{FF2B5EF4-FFF2-40B4-BE49-F238E27FC236}">
                <a16:creationId xmlns:a16="http://schemas.microsoft.com/office/drawing/2014/main" id="{15526F0B-71D5-4544-9DA5-B35A36EF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838" y="4195763"/>
            <a:ext cx="104775" cy="104775"/>
          </a:xfrm>
          <a:custGeom xmlns:a="http://schemas.openxmlformats.org/drawingml/2006/main">
            <a:pathLst>
              <a:path w="104775" h="104775">
                <a:moveTo>
                  <a:pt x="0" y="0"/>
                </a:moveTo>
                <a:lnTo>
                  <a:pt x="104775" y="52388"/>
                </a:lnTo>
                <a:lnTo>
                  <a:pt x="0" y="104775"/>
                </a:lnTo>
                <a:lnTo>
                  <a:pt x="26194" y="52388"/>
                </a:lnTo>
                <a:close/>
              </a:path>
            </a:pathLst>
          </a:custGeom>
          <a:solidFill xmlns:a="http://schemas.openxmlformats.org/drawingml/2006/main">
            <a:srgbClr val="566C7B"/>
          </a:solidFill>
          <a:ln xmlns:a="http://schemas.openxmlformats.org/drawingml/2006/main" w="0">
            <a:noFill/>
          </a:ln>
        </p:spPr>
      </p:sp>
      <p:sp>
        <p:nvSpPr>
          <p:cNvPr id="99" name="source-88-path">
            <a:extLst xmlns:a="http://schemas.openxmlformats.org/drawingml/2006/main">
              <a:ext uri="{FF2B5EF4-FFF2-40B4-BE49-F238E27FC236}">
                <a16:creationId xmlns:a16="http://schemas.microsoft.com/office/drawing/2014/main" id="{3B5C6ABF-FF3D-4E69-ADE3-989BF196C110}"/>
              </a:ext>
            </a:extLst>
          </p:cNvPr>
          <p:cNvSpPr/>
          <p:nvPr/>
        </p:nvSpPr>
        <p:spPr>
          <a:xfrm xmlns:a="http://schemas.openxmlformats.org/drawingml/2006/main">
            <a:off x="15887700" y="4248150"/>
            <a:ext cx="552450" cy="7086600"/>
          </a:xfrm>
          <a:custGeom xmlns:a="http://schemas.openxmlformats.org/drawingml/2006/main">
            <a:pathLst>
              <a:path w="552450" h="7086600">
                <a:moveTo>
                  <a:pt x="0" y="7086600"/>
                </a:moveTo>
                <a:lnTo>
                  <a:pt x="95250" y="7086600"/>
                </a:lnTo>
                <a:moveTo>
                  <a:pt x="161925" y="7086600"/>
                </a:moveTo>
                <a:lnTo>
                  <a:pt x="257175" y="7086600"/>
                </a:lnTo>
                <a:moveTo>
                  <a:pt x="323850" y="7086600"/>
                </a:moveTo>
                <a:lnTo>
                  <a:pt x="419100" y="7086600"/>
                </a:lnTo>
                <a:moveTo>
                  <a:pt x="485775" y="7086600"/>
                </a:moveTo>
                <a:lnTo>
                  <a:pt x="552450" y="7086600"/>
                </a:lnTo>
                <a:moveTo>
                  <a:pt x="552450" y="7086600"/>
                </a:moveTo>
                <a:lnTo>
                  <a:pt x="552450" y="7058025"/>
                </a:lnTo>
                <a:moveTo>
                  <a:pt x="552450" y="6991350"/>
                </a:moveTo>
                <a:lnTo>
                  <a:pt x="552450" y="6896100"/>
                </a:lnTo>
                <a:moveTo>
                  <a:pt x="552450" y="6829425"/>
                </a:moveTo>
                <a:lnTo>
                  <a:pt x="552450" y="6734175"/>
                </a:lnTo>
                <a:moveTo>
                  <a:pt x="552450" y="6667500"/>
                </a:moveTo>
                <a:lnTo>
                  <a:pt x="552450" y="6572250"/>
                </a:lnTo>
                <a:moveTo>
                  <a:pt x="552450" y="6505575"/>
                </a:moveTo>
                <a:lnTo>
                  <a:pt x="552450" y="6410325"/>
                </a:lnTo>
                <a:moveTo>
                  <a:pt x="552450" y="6343650"/>
                </a:moveTo>
                <a:lnTo>
                  <a:pt x="552450" y="6248400"/>
                </a:lnTo>
                <a:moveTo>
                  <a:pt x="552450" y="6181725"/>
                </a:moveTo>
                <a:lnTo>
                  <a:pt x="552450" y="6086475"/>
                </a:lnTo>
                <a:moveTo>
                  <a:pt x="552450" y="6019800"/>
                </a:moveTo>
                <a:lnTo>
                  <a:pt x="552450" y="5924550"/>
                </a:lnTo>
                <a:moveTo>
                  <a:pt x="552450" y="5857875"/>
                </a:moveTo>
                <a:lnTo>
                  <a:pt x="552450" y="5762625"/>
                </a:lnTo>
                <a:moveTo>
                  <a:pt x="552450" y="5695950"/>
                </a:moveTo>
                <a:lnTo>
                  <a:pt x="552450" y="5600700"/>
                </a:lnTo>
                <a:moveTo>
                  <a:pt x="552450" y="5534025"/>
                </a:moveTo>
                <a:lnTo>
                  <a:pt x="552450" y="5438775"/>
                </a:lnTo>
                <a:moveTo>
                  <a:pt x="552450" y="5372100"/>
                </a:moveTo>
                <a:lnTo>
                  <a:pt x="552450" y="5276850"/>
                </a:lnTo>
                <a:moveTo>
                  <a:pt x="552450" y="5210175"/>
                </a:moveTo>
                <a:lnTo>
                  <a:pt x="552450" y="5114925"/>
                </a:lnTo>
                <a:moveTo>
                  <a:pt x="552450" y="5048250"/>
                </a:moveTo>
                <a:lnTo>
                  <a:pt x="552450" y="4953000"/>
                </a:lnTo>
                <a:moveTo>
                  <a:pt x="552450" y="4886325"/>
                </a:moveTo>
                <a:lnTo>
                  <a:pt x="552450" y="4791075"/>
                </a:lnTo>
                <a:moveTo>
                  <a:pt x="552450" y="4724400"/>
                </a:moveTo>
                <a:lnTo>
                  <a:pt x="552450" y="4629150"/>
                </a:lnTo>
                <a:moveTo>
                  <a:pt x="552450" y="4562475"/>
                </a:moveTo>
                <a:lnTo>
                  <a:pt x="552450" y="4467225"/>
                </a:lnTo>
                <a:moveTo>
                  <a:pt x="552450" y="4400550"/>
                </a:moveTo>
                <a:lnTo>
                  <a:pt x="552450" y="4305300"/>
                </a:lnTo>
                <a:moveTo>
                  <a:pt x="552450" y="4238625"/>
                </a:moveTo>
                <a:lnTo>
                  <a:pt x="552450" y="4143375"/>
                </a:lnTo>
                <a:moveTo>
                  <a:pt x="552450" y="4076700"/>
                </a:moveTo>
                <a:lnTo>
                  <a:pt x="552450" y="3981450"/>
                </a:lnTo>
                <a:moveTo>
                  <a:pt x="552450" y="3914775"/>
                </a:moveTo>
                <a:lnTo>
                  <a:pt x="552450" y="3819525"/>
                </a:lnTo>
                <a:moveTo>
                  <a:pt x="552450" y="3752850"/>
                </a:moveTo>
                <a:lnTo>
                  <a:pt x="552450" y="3657600"/>
                </a:lnTo>
                <a:moveTo>
                  <a:pt x="552450" y="3590925"/>
                </a:moveTo>
                <a:lnTo>
                  <a:pt x="552450" y="3495675"/>
                </a:lnTo>
                <a:moveTo>
                  <a:pt x="552450" y="3429000"/>
                </a:moveTo>
                <a:lnTo>
                  <a:pt x="552450" y="3333750"/>
                </a:lnTo>
                <a:moveTo>
                  <a:pt x="552450" y="3267075"/>
                </a:moveTo>
                <a:lnTo>
                  <a:pt x="552450" y="3171825"/>
                </a:lnTo>
                <a:moveTo>
                  <a:pt x="552450" y="3105150"/>
                </a:moveTo>
                <a:lnTo>
                  <a:pt x="552450" y="3009900"/>
                </a:lnTo>
                <a:moveTo>
                  <a:pt x="552450" y="2943225"/>
                </a:moveTo>
                <a:lnTo>
                  <a:pt x="552450" y="2847975"/>
                </a:lnTo>
                <a:moveTo>
                  <a:pt x="552450" y="2781300"/>
                </a:moveTo>
                <a:lnTo>
                  <a:pt x="552450" y="2686050"/>
                </a:lnTo>
                <a:moveTo>
                  <a:pt x="552450" y="2619375"/>
                </a:moveTo>
                <a:lnTo>
                  <a:pt x="552450" y="2524125"/>
                </a:lnTo>
                <a:moveTo>
                  <a:pt x="552450" y="2457450"/>
                </a:moveTo>
                <a:lnTo>
                  <a:pt x="552450" y="2362200"/>
                </a:lnTo>
                <a:moveTo>
                  <a:pt x="552450" y="2295525"/>
                </a:moveTo>
                <a:lnTo>
                  <a:pt x="552450" y="2200275"/>
                </a:lnTo>
                <a:moveTo>
                  <a:pt x="552450" y="2133600"/>
                </a:moveTo>
                <a:lnTo>
                  <a:pt x="552450" y="2038350"/>
                </a:lnTo>
                <a:moveTo>
                  <a:pt x="552450" y="1971675"/>
                </a:moveTo>
                <a:lnTo>
                  <a:pt x="552450" y="1876425"/>
                </a:lnTo>
                <a:moveTo>
                  <a:pt x="552450" y="1809750"/>
                </a:moveTo>
                <a:lnTo>
                  <a:pt x="552450" y="1714500"/>
                </a:lnTo>
                <a:moveTo>
                  <a:pt x="552450" y="1647825"/>
                </a:moveTo>
                <a:lnTo>
                  <a:pt x="552450" y="1552575"/>
                </a:lnTo>
                <a:moveTo>
                  <a:pt x="552450" y="1485900"/>
                </a:moveTo>
                <a:lnTo>
                  <a:pt x="552450" y="1390650"/>
                </a:lnTo>
                <a:moveTo>
                  <a:pt x="552450" y="1323975"/>
                </a:moveTo>
                <a:lnTo>
                  <a:pt x="552450" y="1228725"/>
                </a:lnTo>
                <a:moveTo>
                  <a:pt x="552450" y="1162050"/>
                </a:moveTo>
                <a:lnTo>
                  <a:pt x="552450" y="1066800"/>
                </a:lnTo>
                <a:moveTo>
                  <a:pt x="552450" y="1000125"/>
                </a:moveTo>
                <a:lnTo>
                  <a:pt x="552450" y="904875"/>
                </a:lnTo>
                <a:moveTo>
                  <a:pt x="552450" y="838200"/>
                </a:moveTo>
                <a:lnTo>
                  <a:pt x="552450" y="742950"/>
                </a:lnTo>
                <a:moveTo>
                  <a:pt x="552450" y="676275"/>
                </a:moveTo>
                <a:lnTo>
                  <a:pt x="552450" y="581025"/>
                </a:lnTo>
                <a:moveTo>
                  <a:pt x="552450" y="514350"/>
                </a:moveTo>
                <a:lnTo>
                  <a:pt x="552450" y="419100"/>
                </a:lnTo>
                <a:moveTo>
                  <a:pt x="552450" y="352425"/>
                </a:moveTo>
                <a:lnTo>
                  <a:pt x="552450" y="257175"/>
                </a:lnTo>
                <a:moveTo>
                  <a:pt x="552450" y="190500"/>
                </a:moveTo>
                <a:lnTo>
                  <a:pt x="552450" y="95250"/>
                </a:lnTo>
                <a:moveTo>
                  <a:pt x="552450" y="28575"/>
                </a:moveTo>
                <a:lnTo>
                  <a:pt x="552450" y="0"/>
                </a:lnTo>
                <a:moveTo>
                  <a:pt x="552450" y="0"/>
                </a:moveTo>
                <a:lnTo>
                  <a:pt x="485775" y="0"/>
                </a:lnTo>
                <a:moveTo>
                  <a:pt x="419100" y="0"/>
                </a:moveTo>
                <a:lnTo>
                  <a:pt x="323850" y="0"/>
                </a:lnTo>
                <a:moveTo>
                  <a:pt x="257175" y="0"/>
                </a:moveTo>
                <a:lnTo>
                  <a:pt x="161925" y="0"/>
                </a:lnTo>
                <a:moveTo>
                  <a:pt x="95250" y="0"/>
                </a:moveTo>
                <a:lnTo>
                  <a:pt x="57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 cap="flat">
            <a:solidFill>
              <a:srgbClr val="566C7B"/>
            </a:solidFill>
            <a:prstDash val="solid"/>
          </a:ln>
        </p:spPr>
      </p:sp>
      <p:sp>
        <p:nvSpPr>
          <p:cNvPr id="100" name="source-88-path-arrowhead">
            <a:extLst xmlns:a="http://schemas.openxmlformats.org/drawingml/2006/main">
              <a:ext uri="{FF2B5EF4-FFF2-40B4-BE49-F238E27FC236}">
                <a16:creationId xmlns:a16="http://schemas.microsoft.com/office/drawing/2014/main" id="{CFA2BB0E-8C9C-4970-A6EF-9F58109D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7388" y="4195763"/>
            <a:ext cx="104775" cy="104775"/>
          </a:xfrm>
          <a:custGeom xmlns:a="http://schemas.openxmlformats.org/drawingml/2006/main">
            <a:pathLst>
              <a:path w="104775" h="104775">
                <a:moveTo>
                  <a:pt x="104775" y="104775"/>
                </a:moveTo>
                <a:lnTo>
                  <a:pt x="0" y="52388"/>
                </a:lnTo>
                <a:lnTo>
                  <a:pt x="104775" y="0"/>
                </a:lnTo>
                <a:lnTo>
                  <a:pt x="78581" y="52388"/>
                </a:lnTo>
                <a:close/>
              </a:path>
            </a:pathLst>
          </a:custGeom>
          <a:solidFill xmlns:a="http://schemas.openxmlformats.org/drawingml/2006/main">
            <a:srgbClr val="566C7B"/>
          </a:solidFill>
          <a:ln xmlns:a="http://schemas.openxmlformats.org/drawingml/2006/main" w="0">
            <a:noFill/>
          </a:ln>
        </p:spPr>
      </p:sp>
      <p:sp>
        <p:nvSpPr>
          <p:cNvPr id="101" name="source-89-text">
            <a:extLst xmlns:a="http://schemas.openxmlformats.org/drawingml/2006/main">
              <a:ext uri="{FF2B5EF4-FFF2-40B4-BE49-F238E27FC236}">
                <a16:creationId xmlns:a16="http://schemas.microsoft.com/office/drawing/2014/main" id="{EF024738-1937-4B99-BC51-22C7FC12F2F0}"/>
              </a:ext>
            </a:extLst>
          </p:cNvPr>
          <p:cNvSpPr/>
          <p:nvPr/>
        </p:nvSpPr>
        <p:spPr>
          <a:xfrm xmlns:a="http://schemas.openxmlformats.org/drawingml/2006/main" rot="-5400000">
            <a:off x="-1377125" y="7713345"/>
            <a:ext cx="3463861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17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rPr>
              <a:t>实验数据校核模型与参数</a:t>
            </a:r>
          </a:p>
        </p:txBody>
      </p:sp>
      <p:sp>
        <p:nvSpPr>
          <p:cNvPr id="102" name="source-90-text">
            <a:extLst xmlns:a="http://schemas.openxmlformats.org/drawingml/2006/main">
              <a:ext uri="{FF2B5EF4-FFF2-40B4-BE49-F238E27FC236}">
                <a16:creationId xmlns:a16="http://schemas.microsoft.com/office/drawing/2014/main" id="{89036C7C-875C-46C0-B791-AEB6437ACD69}"/>
              </a:ext>
            </a:extLst>
          </p:cNvPr>
          <p:cNvSpPr/>
          <p:nvPr/>
        </p:nvSpPr>
        <p:spPr>
          <a:xfrm xmlns:a="http://schemas.openxmlformats.org/drawingml/2006/main" rot="5400000">
            <a:off x="15077314" y="7713345"/>
            <a:ext cx="3463861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 eaLnBrk="0" latinLnBrk="0" hangingPunct="0">
              <a:defRPr sz="217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46371"/>
                </a:solidFill>
                <a:latin typeface="Microsoft YaHei"/>
                <a:ea typeface="Microsoft YaHei"/>
                <a:cs typeface="Microsoft YaHei"/>
              </a:rPr>
              <a:t>实验评价修正方法与边界</a:t>
            </a:r>
          </a:p>
        </p:txBody>
      </p:sp>
    </p:spTree>
    <p:extLst>
      <p:ext uri="{BB962C8B-B14F-4D97-AF65-F5344CB8AC3E}">
        <p14:creationId xmlns:p14="http://schemas.microsoft.com/office/powerpoint/2010/main" val="20718580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2026-09-24T06:37:37.1290000Z</dcterms:created>
  <dcterms:modified xsi:type="dcterms:W3CDTF">2026-09-24T06:37:37.1290000Z</dcterms:modified>
</coreProperties>
</file>