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145000" cy="134302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12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4-rect">
            <a:extLst>
              <a:ext uri="{FF2B5EF4-FFF2-40B4-BE49-F238E27FC236}">
                <a16:creationId xmlns:a16="http://schemas.microsoft.com/office/drawing/2014/main" id="{3513733B-0591-49D1-8715-73DFC4BB9060}"/>
              </a:ext>
            </a:extLst>
          </p:cNvPr>
          <p:cNvSpPr/>
          <p:nvPr/>
        </p:nvSpPr>
        <p:spPr>
          <a:xfrm>
            <a:off x="1257300" y="285751"/>
            <a:ext cx="14630400" cy="880110"/>
          </a:xfrm>
          <a:prstGeom prst="roundRect">
            <a:avLst>
              <a:gd name="adj" fmla="val 5442"/>
            </a:avLst>
          </a:prstGeom>
          <a:solidFill>
            <a:srgbClr val="ECF1F6"/>
          </a:solidFill>
          <a:ln w="19050">
            <a:solidFill>
              <a:srgbClr val="365C7E"/>
            </a:solidFill>
            <a:prstDash val="solid"/>
          </a:ln>
        </p:spPr>
      </p:sp>
      <p:sp>
        <p:nvSpPr>
          <p:cNvPr id="3" name="source-5-text">
            <a:extLst>
              <a:ext uri="{FF2B5EF4-FFF2-40B4-BE49-F238E27FC236}">
                <a16:creationId xmlns:a16="http://schemas.microsoft.com/office/drawing/2014/main" id="{BA117889-C5FF-4501-A691-C05639EEE27F}"/>
              </a:ext>
            </a:extLst>
          </p:cNvPr>
          <p:cNvSpPr/>
          <p:nvPr/>
        </p:nvSpPr>
        <p:spPr>
          <a:xfrm>
            <a:off x="3436430" y="451009"/>
            <a:ext cx="10272141" cy="6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3225" b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dirty="0" err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柔性桁架支撑下空间机器人的</a:t>
            </a:r>
            <a:r>
              <a:rPr lang="zh-CN" altLang="en-US" sz="3225" b="1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运动控制</a:t>
            </a:r>
            <a:r>
              <a:rPr sz="3225" b="1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lang="zh-CN" altLang="en-US" sz="3225" b="1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接触引导组装研究</a:t>
            </a:r>
            <a:endParaRPr sz="3225" b="1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source-11-path">
            <a:extLst>
              <a:ext uri="{FF2B5EF4-FFF2-40B4-BE49-F238E27FC236}">
                <a16:creationId xmlns:a16="http://schemas.microsoft.com/office/drawing/2014/main" id="{C3C7D615-8293-45F5-BF02-51F9482F5583}"/>
              </a:ext>
            </a:extLst>
          </p:cNvPr>
          <p:cNvSpPr/>
          <p:nvPr/>
        </p:nvSpPr>
        <p:spPr>
          <a:xfrm>
            <a:off x="4381500" y="1165861"/>
            <a:ext cx="9525" cy="600075"/>
          </a:xfrm>
          <a:custGeom>
            <a:avLst/>
            <a:gdLst/>
            <a:ahLst/>
            <a:cxnLst/>
            <a:rect l="0" t="0" r="0" b="0"/>
            <a:pathLst>
              <a:path w="952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/>
          <a:ln w="28575">
            <a:solidFill>
              <a:srgbClr val="365C7E"/>
            </a:solidFill>
            <a:prstDash val="solid"/>
          </a:ln>
        </p:spPr>
      </p:sp>
      <p:sp>
        <p:nvSpPr>
          <p:cNvPr id="10" name="source-11-path-arrowhead">
            <a:extLst>
              <a:ext uri="{FF2B5EF4-FFF2-40B4-BE49-F238E27FC236}">
                <a16:creationId xmlns:a16="http://schemas.microsoft.com/office/drawing/2014/main" id="{3778E091-7CCE-4765-B612-0E6D2D3A3526}"/>
              </a:ext>
            </a:extLst>
          </p:cNvPr>
          <p:cNvSpPr>
            <a:spLocks noGrp="1"/>
          </p:cNvSpPr>
          <p:nvPr/>
        </p:nvSpPr>
        <p:spPr>
          <a:xfrm>
            <a:off x="4329113" y="1678624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104775" y="0"/>
                </a:moveTo>
                <a:lnTo>
                  <a:pt x="52388" y="104775"/>
                </a:lnTo>
                <a:lnTo>
                  <a:pt x="0" y="0"/>
                </a:lnTo>
                <a:lnTo>
                  <a:pt x="52388" y="26194"/>
                </a:lnTo>
                <a:close/>
              </a:path>
            </a:pathLst>
          </a:custGeom>
          <a:solidFill>
            <a:srgbClr val="365C7E"/>
          </a:solidFill>
          <a:ln w="0">
            <a:noFill/>
          </a:ln>
        </p:spPr>
      </p:sp>
      <p:sp>
        <p:nvSpPr>
          <p:cNvPr id="11" name="source-12-path">
            <a:extLst>
              <a:ext uri="{FF2B5EF4-FFF2-40B4-BE49-F238E27FC236}">
                <a16:creationId xmlns:a16="http://schemas.microsoft.com/office/drawing/2014/main" id="{3ABBD3B5-3ADA-47E8-8449-B520FF9968A2}"/>
              </a:ext>
            </a:extLst>
          </p:cNvPr>
          <p:cNvSpPr/>
          <p:nvPr/>
        </p:nvSpPr>
        <p:spPr>
          <a:xfrm>
            <a:off x="12763500" y="1165861"/>
            <a:ext cx="9525" cy="600075"/>
          </a:xfrm>
          <a:custGeom>
            <a:avLst/>
            <a:gdLst/>
            <a:ahLst/>
            <a:cxnLst/>
            <a:rect l="0" t="0" r="0" b="0"/>
            <a:pathLst>
              <a:path w="952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/>
          <a:ln w="28575">
            <a:solidFill>
              <a:srgbClr val="397570"/>
            </a:solidFill>
            <a:prstDash val="solid"/>
          </a:ln>
        </p:spPr>
      </p:sp>
      <p:sp>
        <p:nvSpPr>
          <p:cNvPr id="12" name="source-12-path-arrowhead">
            <a:extLst>
              <a:ext uri="{FF2B5EF4-FFF2-40B4-BE49-F238E27FC236}">
                <a16:creationId xmlns:a16="http://schemas.microsoft.com/office/drawing/2014/main" id="{3CAD43A5-20CB-4F28-A5C4-EAB3A7F5270F}"/>
              </a:ext>
            </a:extLst>
          </p:cNvPr>
          <p:cNvSpPr>
            <a:spLocks noGrp="1"/>
          </p:cNvSpPr>
          <p:nvPr/>
        </p:nvSpPr>
        <p:spPr>
          <a:xfrm>
            <a:off x="12711113" y="1678624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104775" y="0"/>
                </a:moveTo>
                <a:lnTo>
                  <a:pt x="52388" y="104775"/>
                </a:lnTo>
                <a:lnTo>
                  <a:pt x="0" y="0"/>
                </a:lnTo>
                <a:lnTo>
                  <a:pt x="52388" y="26194"/>
                </a:lnTo>
                <a:close/>
              </a:path>
            </a:pathLst>
          </a:custGeom>
          <a:solidFill>
            <a:srgbClr val="397570"/>
          </a:solidFill>
          <a:ln w="0">
            <a:noFill/>
          </a:ln>
        </p:spPr>
      </p:sp>
      <p:sp>
        <p:nvSpPr>
          <p:cNvPr id="13" name="source-13-rect">
            <a:extLst>
              <a:ext uri="{FF2B5EF4-FFF2-40B4-BE49-F238E27FC236}">
                <a16:creationId xmlns:a16="http://schemas.microsoft.com/office/drawing/2014/main" id="{5A995EC0-F7E8-483C-8C08-5BEDC08E2446}"/>
              </a:ext>
            </a:extLst>
          </p:cNvPr>
          <p:cNvSpPr/>
          <p:nvPr/>
        </p:nvSpPr>
        <p:spPr>
          <a:xfrm>
            <a:off x="1257300" y="1804037"/>
            <a:ext cx="6248400" cy="6656388"/>
          </a:xfrm>
          <a:prstGeom prst="roundRect">
            <a:avLst>
              <a:gd name="adj" fmla="val 1372"/>
            </a:avLst>
          </a:prstGeom>
          <a:solidFill>
            <a:srgbClr val="F0F5F9"/>
          </a:solidFill>
          <a:ln w="19050">
            <a:solidFill>
              <a:srgbClr val="365C7E"/>
            </a:solidFill>
            <a:prstDash val="solid"/>
          </a:ln>
        </p:spPr>
      </p:sp>
      <p:sp>
        <p:nvSpPr>
          <p:cNvPr id="14" name="source-14-rect">
            <a:extLst>
              <a:ext uri="{FF2B5EF4-FFF2-40B4-BE49-F238E27FC236}">
                <a16:creationId xmlns:a16="http://schemas.microsoft.com/office/drawing/2014/main" id="{6589B30B-5D8E-43AE-9E66-D06088D826D9}"/>
              </a:ext>
            </a:extLst>
          </p:cNvPr>
          <p:cNvSpPr/>
          <p:nvPr/>
        </p:nvSpPr>
        <p:spPr>
          <a:xfrm>
            <a:off x="1257300" y="1804036"/>
            <a:ext cx="6248400" cy="1000125"/>
          </a:xfrm>
          <a:prstGeom prst="roundRect">
            <a:avLst>
              <a:gd name="adj" fmla="val 7619"/>
            </a:avLst>
          </a:prstGeom>
          <a:solidFill>
            <a:srgbClr val="365C7E"/>
          </a:solidFill>
          <a:ln w="9525">
            <a:solidFill>
              <a:srgbClr val="365C7E"/>
            </a:solidFill>
            <a:prstDash val="solid"/>
          </a:ln>
        </p:spPr>
      </p:sp>
      <p:sp>
        <p:nvSpPr>
          <p:cNvPr id="15" name="source-15-rect">
            <a:extLst>
              <a:ext uri="{FF2B5EF4-FFF2-40B4-BE49-F238E27FC236}">
                <a16:creationId xmlns:a16="http://schemas.microsoft.com/office/drawing/2014/main" id="{6AEAF868-58B0-425F-8381-FCF07BAAC721}"/>
              </a:ext>
            </a:extLst>
          </p:cNvPr>
          <p:cNvSpPr/>
          <p:nvPr/>
        </p:nvSpPr>
        <p:spPr>
          <a:xfrm>
            <a:off x="1257300" y="2489836"/>
            <a:ext cx="6248400" cy="314325"/>
          </a:xfrm>
          <a:prstGeom prst="rect">
            <a:avLst/>
          </a:prstGeom>
          <a:solidFill>
            <a:srgbClr val="365C7E"/>
          </a:solidFill>
          <a:ln w="0">
            <a:noFill/>
            <a:prstDash val="solid"/>
          </a:ln>
        </p:spPr>
      </p:sp>
      <p:sp>
        <p:nvSpPr>
          <p:cNvPr id="16" name="source-16-text">
            <a:extLst>
              <a:ext uri="{FF2B5EF4-FFF2-40B4-BE49-F238E27FC236}">
                <a16:creationId xmlns:a16="http://schemas.microsoft.com/office/drawing/2014/main" id="{1887C1CA-6F17-4D65-9379-0DE1B1B75E37}"/>
              </a:ext>
            </a:extLst>
          </p:cNvPr>
          <p:cNvSpPr/>
          <p:nvPr/>
        </p:nvSpPr>
        <p:spPr>
          <a:xfrm>
            <a:off x="3524250" y="1918812"/>
            <a:ext cx="1714500" cy="44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研究内容一</a:t>
            </a:r>
          </a:p>
        </p:txBody>
      </p:sp>
      <p:sp>
        <p:nvSpPr>
          <p:cNvPr id="17" name="source-17-text">
            <a:extLst>
              <a:ext uri="{FF2B5EF4-FFF2-40B4-BE49-F238E27FC236}">
                <a16:creationId xmlns:a16="http://schemas.microsoft.com/office/drawing/2014/main" id="{57D7CE71-CBF5-4320-8631-C4AB98443354}"/>
              </a:ext>
            </a:extLst>
          </p:cNvPr>
          <p:cNvSpPr/>
          <p:nvPr/>
        </p:nvSpPr>
        <p:spPr>
          <a:xfrm>
            <a:off x="2372678" y="2265046"/>
            <a:ext cx="4017645" cy="5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耦合动力学与运动控制</a:t>
            </a:r>
          </a:p>
        </p:txBody>
      </p:sp>
      <p:sp>
        <p:nvSpPr>
          <p:cNvPr id="18" name="source-18-rect">
            <a:extLst>
              <a:ext uri="{FF2B5EF4-FFF2-40B4-BE49-F238E27FC236}">
                <a16:creationId xmlns:a16="http://schemas.microsoft.com/office/drawing/2014/main" id="{599F5169-53B4-434A-AB4A-7B3CBCD3BA5E}"/>
              </a:ext>
            </a:extLst>
          </p:cNvPr>
          <p:cNvSpPr/>
          <p:nvPr/>
        </p:nvSpPr>
        <p:spPr>
          <a:xfrm>
            <a:off x="9639300" y="1804037"/>
            <a:ext cx="6248400" cy="6656388"/>
          </a:xfrm>
          <a:prstGeom prst="roundRect">
            <a:avLst>
              <a:gd name="adj" fmla="val 1372"/>
            </a:avLst>
          </a:prstGeom>
          <a:solidFill>
            <a:srgbClr val="F0F7F5"/>
          </a:solidFill>
          <a:ln w="19050">
            <a:solidFill>
              <a:srgbClr val="397570"/>
            </a:solidFill>
            <a:prstDash val="solid"/>
          </a:ln>
        </p:spPr>
      </p:sp>
      <p:sp>
        <p:nvSpPr>
          <p:cNvPr id="19" name="source-19-rect">
            <a:extLst>
              <a:ext uri="{FF2B5EF4-FFF2-40B4-BE49-F238E27FC236}">
                <a16:creationId xmlns:a16="http://schemas.microsoft.com/office/drawing/2014/main" id="{7C0FE8CB-C63D-43AB-B09C-16E0606817B6}"/>
              </a:ext>
            </a:extLst>
          </p:cNvPr>
          <p:cNvSpPr/>
          <p:nvPr/>
        </p:nvSpPr>
        <p:spPr>
          <a:xfrm>
            <a:off x="9639300" y="1804036"/>
            <a:ext cx="6248400" cy="1000125"/>
          </a:xfrm>
          <a:prstGeom prst="roundRect">
            <a:avLst>
              <a:gd name="adj" fmla="val 7619"/>
            </a:avLst>
          </a:prstGeom>
          <a:solidFill>
            <a:srgbClr val="397570"/>
          </a:solidFill>
          <a:ln w="9525">
            <a:solidFill>
              <a:srgbClr val="397570"/>
            </a:solidFill>
            <a:prstDash val="solid"/>
          </a:ln>
        </p:spPr>
      </p:sp>
      <p:sp>
        <p:nvSpPr>
          <p:cNvPr id="20" name="source-20-rect">
            <a:extLst>
              <a:ext uri="{FF2B5EF4-FFF2-40B4-BE49-F238E27FC236}">
                <a16:creationId xmlns:a16="http://schemas.microsoft.com/office/drawing/2014/main" id="{268CEFA8-013B-4661-BC59-95478BCBFF24}"/>
              </a:ext>
            </a:extLst>
          </p:cNvPr>
          <p:cNvSpPr/>
          <p:nvPr/>
        </p:nvSpPr>
        <p:spPr>
          <a:xfrm>
            <a:off x="9639300" y="2489836"/>
            <a:ext cx="6248400" cy="314325"/>
          </a:xfrm>
          <a:prstGeom prst="rect">
            <a:avLst/>
          </a:prstGeom>
          <a:solidFill>
            <a:srgbClr val="397570"/>
          </a:solidFill>
          <a:ln w="0">
            <a:noFill/>
            <a:prstDash val="solid"/>
          </a:ln>
        </p:spPr>
      </p:sp>
      <p:sp>
        <p:nvSpPr>
          <p:cNvPr id="21" name="source-21-text">
            <a:extLst>
              <a:ext uri="{FF2B5EF4-FFF2-40B4-BE49-F238E27FC236}">
                <a16:creationId xmlns:a16="http://schemas.microsoft.com/office/drawing/2014/main" id="{C447C955-41F8-450E-85B9-EBA59F036783}"/>
              </a:ext>
            </a:extLst>
          </p:cNvPr>
          <p:cNvSpPr/>
          <p:nvPr/>
        </p:nvSpPr>
        <p:spPr>
          <a:xfrm>
            <a:off x="11906250" y="1918812"/>
            <a:ext cx="1714500" cy="44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研究内容二</a:t>
            </a:r>
          </a:p>
        </p:txBody>
      </p:sp>
      <p:sp>
        <p:nvSpPr>
          <p:cNvPr id="22" name="source-22-text">
            <a:extLst>
              <a:ext uri="{FF2B5EF4-FFF2-40B4-BE49-F238E27FC236}">
                <a16:creationId xmlns:a16="http://schemas.microsoft.com/office/drawing/2014/main" id="{1B36EC49-C486-4B05-9D47-15AE9979D8C8}"/>
              </a:ext>
            </a:extLst>
          </p:cNvPr>
          <p:cNvSpPr/>
          <p:nvPr/>
        </p:nvSpPr>
        <p:spPr>
          <a:xfrm>
            <a:off x="10955560" y="2265046"/>
            <a:ext cx="3615880" cy="5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接触引导与柔顺组装</a:t>
            </a:r>
          </a:p>
        </p:txBody>
      </p:sp>
      <p:sp>
        <p:nvSpPr>
          <p:cNvPr id="23" name="source-23-rect">
            <a:extLst>
              <a:ext uri="{FF2B5EF4-FFF2-40B4-BE49-F238E27FC236}">
                <a16:creationId xmlns:a16="http://schemas.microsoft.com/office/drawing/2014/main" id="{7A0400BF-E8C2-4B4C-A38A-EB20839DA830}"/>
              </a:ext>
            </a:extLst>
          </p:cNvPr>
          <p:cNvSpPr/>
          <p:nvPr/>
        </p:nvSpPr>
        <p:spPr>
          <a:xfrm>
            <a:off x="1524000" y="2966086"/>
            <a:ext cx="5715000" cy="154305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7145">
            <a:solidFill>
              <a:srgbClr val="B6C9D9"/>
            </a:solidFill>
            <a:prstDash val="solid"/>
          </a:ln>
        </p:spPr>
      </p:sp>
      <p:sp>
        <p:nvSpPr>
          <p:cNvPr id="24" name="source-24-rect">
            <a:extLst>
              <a:ext uri="{FF2B5EF4-FFF2-40B4-BE49-F238E27FC236}">
                <a16:creationId xmlns:a16="http://schemas.microsoft.com/office/drawing/2014/main" id="{9CEB893F-48DE-4D10-9471-30C835EDC535}"/>
              </a:ext>
            </a:extLst>
          </p:cNvPr>
          <p:cNvSpPr/>
          <p:nvPr/>
        </p:nvSpPr>
        <p:spPr>
          <a:xfrm>
            <a:off x="1524000" y="2966086"/>
            <a:ext cx="57150" cy="1543050"/>
          </a:xfrm>
          <a:prstGeom prst="rect">
            <a:avLst/>
          </a:prstGeom>
          <a:solidFill>
            <a:srgbClr val="365C7E"/>
          </a:solidFill>
          <a:ln w="0">
            <a:noFill/>
            <a:prstDash val="solid"/>
          </a:ln>
        </p:spPr>
      </p:sp>
      <p:sp>
        <p:nvSpPr>
          <p:cNvPr id="25" name="source-25-text">
            <a:extLst>
              <a:ext uri="{FF2B5EF4-FFF2-40B4-BE49-F238E27FC236}">
                <a16:creationId xmlns:a16="http://schemas.microsoft.com/office/drawing/2014/main" id="{EAB10923-FE4A-4B21-BFD6-779EB7D727EE}"/>
              </a:ext>
            </a:extLst>
          </p:cNvPr>
          <p:cNvSpPr/>
          <p:nvPr/>
        </p:nvSpPr>
        <p:spPr>
          <a:xfrm>
            <a:off x="2866072" y="3085148"/>
            <a:ext cx="304038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625" b="1">
                <a:solidFill>
                  <a:srgbClr val="365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25" b="1" dirty="0">
                <a:solidFill>
                  <a:srgbClr val="365C7E"/>
                </a:solidFill>
                <a:latin typeface="Microsoft YaHei"/>
                <a:ea typeface="Microsoft YaHei"/>
                <a:cs typeface="Microsoft YaHei"/>
              </a:rPr>
              <a:t>反向刚体树动力学建模</a:t>
            </a:r>
            <a:endParaRPr sz="2625" b="1" dirty="0">
              <a:solidFill>
                <a:srgbClr val="365C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source-26-text">
            <a:extLst>
              <a:ext uri="{FF2B5EF4-FFF2-40B4-BE49-F238E27FC236}">
                <a16:creationId xmlns:a16="http://schemas.microsoft.com/office/drawing/2014/main" id="{6BDDA58A-20B3-48CF-8F5F-18DFE9938527}"/>
              </a:ext>
            </a:extLst>
          </p:cNvPr>
          <p:cNvSpPr/>
          <p:nvPr/>
        </p:nvSpPr>
        <p:spPr>
          <a:xfrm>
            <a:off x="2361819" y="3584734"/>
            <a:ext cx="4039362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 dirty="0" err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作业端浮动基的倒置动力学</a:t>
            </a:r>
            <a:endParaRPr sz="2325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source-27-text">
            <a:extLst>
              <a:ext uri="{FF2B5EF4-FFF2-40B4-BE49-F238E27FC236}">
                <a16:creationId xmlns:a16="http://schemas.microsoft.com/office/drawing/2014/main" id="{C2EA3050-DDA2-4D66-A3EF-274A97A13749}"/>
              </a:ext>
            </a:extLst>
          </p:cNvPr>
          <p:cNvSpPr/>
          <p:nvPr/>
        </p:nvSpPr>
        <p:spPr>
          <a:xfrm>
            <a:off x="2361819" y="3984784"/>
            <a:ext cx="4039362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桁架振动与机械臂运动的双向耦合</a:t>
            </a:r>
            <a:endParaRPr sz="2325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source-28-rect">
            <a:extLst>
              <a:ext uri="{FF2B5EF4-FFF2-40B4-BE49-F238E27FC236}">
                <a16:creationId xmlns:a16="http://schemas.microsoft.com/office/drawing/2014/main" id="{45666729-CEA5-4B1D-AF23-13CDC42E739B}"/>
              </a:ext>
            </a:extLst>
          </p:cNvPr>
          <p:cNvSpPr/>
          <p:nvPr/>
        </p:nvSpPr>
        <p:spPr>
          <a:xfrm>
            <a:off x="1524000" y="4890136"/>
            <a:ext cx="5715000" cy="154305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7145">
            <a:solidFill>
              <a:srgbClr val="B6C9D9"/>
            </a:solidFill>
            <a:prstDash val="solid"/>
          </a:ln>
        </p:spPr>
      </p:sp>
      <p:sp>
        <p:nvSpPr>
          <p:cNvPr id="29" name="source-29-rect">
            <a:extLst>
              <a:ext uri="{FF2B5EF4-FFF2-40B4-BE49-F238E27FC236}">
                <a16:creationId xmlns:a16="http://schemas.microsoft.com/office/drawing/2014/main" id="{7FB28236-95CC-4E69-B8C6-E6559DD047E8}"/>
              </a:ext>
            </a:extLst>
          </p:cNvPr>
          <p:cNvSpPr/>
          <p:nvPr/>
        </p:nvSpPr>
        <p:spPr>
          <a:xfrm>
            <a:off x="1524000" y="4890136"/>
            <a:ext cx="57150" cy="1543050"/>
          </a:xfrm>
          <a:prstGeom prst="rect">
            <a:avLst/>
          </a:prstGeom>
          <a:solidFill>
            <a:srgbClr val="365C7E"/>
          </a:solidFill>
          <a:ln w="0">
            <a:noFill/>
            <a:prstDash val="solid"/>
          </a:ln>
        </p:spPr>
      </p:sp>
      <p:sp>
        <p:nvSpPr>
          <p:cNvPr id="30" name="source-30-text">
            <a:extLst>
              <a:ext uri="{FF2B5EF4-FFF2-40B4-BE49-F238E27FC236}">
                <a16:creationId xmlns:a16="http://schemas.microsoft.com/office/drawing/2014/main" id="{19A3CED6-E612-422F-A31B-AA702EBDFC04}"/>
              </a:ext>
            </a:extLst>
          </p:cNvPr>
          <p:cNvSpPr/>
          <p:nvPr/>
        </p:nvSpPr>
        <p:spPr>
          <a:xfrm>
            <a:off x="2101215" y="5009198"/>
            <a:ext cx="456057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625" b="1">
                <a:solidFill>
                  <a:srgbClr val="365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dirty="0">
                <a:solidFill>
                  <a:srgbClr val="365C7E"/>
                </a:solidFill>
                <a:latin typeface="Microsoft YaHei"/>
                <a:ea typeface="Microsoft YaHei"/>
                <a:cs typeface="Microsoft YaHei"/>
              </a:rPr>
              <a:t>SE(3) </a:t>
            </a:r>
            <a:r>
              <a:rPr sz="2625" b="1" dirty="0" err="1">
                <a:solidFill>
                  <a:srgbClr val="365C7E"/>
                </a:solidFill>
                <a:latin typeface="Microsoft YaHei"/>
                <a:ea typeface="Microsoft YaHei"/>
                <a:cs typeface="Microsoft YaHei"/>
              </a:rPr>
              <a:t>几何阻抗设计</a:t>
            </a:r>
            <a:endParaRPr sz="2625" b="1" dirty="0">
              <a:solidFill>
                <a:srgbClr val="365C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source-31-text">
            <a:extLst>
              <a:ext uri="{FF2B5EF4-FFF2-40B4-BE49-F238E27FC236}">
                <a16:creationId xmlns:a16="http://schemas.microsoft.com/office/drawing/2014/main" id="{241679D5-09C3-4C6D-B468-302BDEC446A4}"/>
              </a:ext>
            </a:extLst>
          </p:cNvPr>
          <p:cNvSpPr/>
          <p:nvPr/>
        </p:nvSpPr>
        <p:spPr>
          <a:xfrm>
            <a:off x="2532507" y="5508784"/>
            <a:ext cx="3702748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位姿误差与接触力的动态关系</a:t>
            </a:r>
            <a:endParaRPr sz="2325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source-32-text">
            <a:extLst>
              <a:ext uri="{FF2B5EF4-FFF2-40B4-BE49-F238E27FC236}">
                <a16:creationId xmlns:a16="http://schemas.microsoft.com/office/drawing/2014/main" id="{F69F5F2D-7AC6-41E1-804D-FF43F279DA6E}"/>
              </a:ext>
            </a:extLst>
          </p:cNvPr>
          <p:cNvSpPr/>
          <p:nvPr/>
        </p:nvSpPr>
        <p:spPr>
          <a:xfrm>
            <a:off x="2698433" y="5908834"/>
            <a:ext cx="3366135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0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生成兼顾跟踪与柔顺的参考加速度</a:t>
            </a:r>
          </a:p>
        </p:txBody>
      </p:sp>
      <p:sp>
        <p:nvSpPr>
          <p:cNvPr id="33" name="source-33-rect">
            <a:extLst>
              <a:ext uri="{FF2B5EF4-FFF2-40B4-BE49-F238E27FC236}">
                <a16:creationId xmlns:a16="http://schemas.microsoft.com/office/drawing/2014/main" id="{7D4F0A54-8BD3-4C81-8413-F354FE99BCD0}"/>
              </a:ext>
            </a:extLst>
          </p:cNvPr>
          <p:cNvSpPr/>
          <p:nvPr/>
        </p:nvSpPr>
        <p:spPr>
          <a:xfrm>
            <a:off x="1524000" y="6814186"/>
            <a:ext cx="5715000" cy="154305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7145">
            <a:solidFill>
              <a:srgbClr val="B6C9D9"/>
            </a:solidFill>
            <a:prstDash val="solid"/>
          </a:ln>
        </p:spPr>
      </p:sp>
      <p:sp>
        <p:nvSpPr>
          <p:cNvPr id="34" name="source-34-rect">
            <a:extLst>
              <a:ext uri="{FF2B5EF4-FFF2-40B4-BE49-F238E27FC236}">
                <a16:creationId xmlns:a16="http://schemas.microsoft.com/office/drawing/2014/main" id="{F02F8DE6-2C7D-409D-974B-218A5A89BA01}"/>
              </a:ext>
            </a:extLst>
          </p:cNvPr>
          <p:cNvSpPr/>
          <p:nvPr/>
        </p:nvSpPr>
        <p:spPr>
          <a:xfrm>
            <a:off x="1524000" y="6814186"/>
            <a:ext cx="57150" cy="1543050"/>
          </a:xfrm>
          <a:prstGeom prst="rect">
            <a:avLst/>
          </a:prstGeom>
          <a:solidFill>
            <a:srgbClr val="365C7E"/>
          </a:solidFill>
          <a:ln w="0">
            <a:noFill/>
            <a:prstDash val="solid"/>
          </a:ln>
        </p:spPr>
      </p:sp>
      <p:sp>
        <p:nvSpPr>
          <p:cNvPr id="35" name="source-35-text">
            <a:extLst>
              <a:ext uri="{FF2B5EF4-FFF2-40B4-BE49-F238E27FC236}">
                <a16:creationId xmlns:a16="http://schemas.microsoft.com/office/drawing/2014/main" id="{99994D13-4DD7-462A-A7F3-D34832787A1C}"/>
              </a:ext>
            </a:extLst>
          </p:cNvPr>
          <p:cNvSpPr/>
          <p:nvPr/>
        </p:nvSpPr>
        <p:spPr>
          <a:xfrm>
            <a:off x="2861310" y="6933248"/>
            <a:ext cx="304038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625" b="1">
                <a:solidFill>
                  <a:srgbClr val="365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25" b="1" dirty="0">
                <a:solidFill>
                  <a:srgbClr val="365C7E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lang="en-US" altLang="zh-CN" sz="2625" b="1" dirty="0">
                <a:solidFill>
                  <a:srgbClr val="365C7E"/>
                </a:solidFill>
                <a:latin typeface="Microsoft YaHei"/>
                <a:ea typeface="Microsoft YaHei"/>
                <a:cs typeface="Microsoft YaHei"/>
              </a:rPr>
              <a:t>QP</a:t>
            </a:r>
            <a:r>
              <a:rPr lang="zh-CN" altLang="en-US" sz="2625" b="1" dirty="0">
                <a:solidFill>
                  <a:srgbClr val="365C7E"/>
                </a:solidFill>
                <a:latin typeface="Microsoft YaHei"/>
                <a:ea typeface="Microsoft YaHei"/>
                <a:cs typeface="Microsoft YaHei"/>
              </a:rPr>
              <a:t>的全身</a:t>
            </a:r>
            <a:r>
              <a:rPr sz="2625" b="1" dirty="0" err="1">
                <a:solidFill>
                  <a:srgbClr val="365C7E"/>
                </a:solidFill>
                <a:latin typeface="Microsoft YaHei"/>
                <a:ea typeface="Microsoft YaHei"/>
                <a:cs typeface="Microsoft YaHei"/>
              </a:rPr>
              <a:t>动力学优化</a:t>
            </a:r>
            <a:endParaRPr sz="2625" b="1" dirty="0">
              <a:solidFill>
                <a:srgbClr val="365C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source-36-text">
            <a:extLst>
              <a:ext uri="{FF2B5EF4-FFF2-40B4-BE49-F238E27FC236}">
                <a16:creationId xmlns:a16="http://schemas.microsoft.com/office/drawing/2014/main" id="{AB3CC8A1-0033-485A-BCC9-973CF6F1E7A5}"/>
              </a:ext>
            </a:extLst>
          </p:cNvPr>
          <p:cNvSpPr/>
          <p:nvPr/>
        </p:nvSpPr>
        <p:spPr>
          <a:xfrm>
            <a:off x="2193512" y="7432834"/>
            <a:ext cx="4375976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 dirty="0" err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关节运动</a:t>
            </a:r>
            <a:r>
              <a:rPr sz="2325" b="0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zh-CN" altLang="en-US" sz="2325" b="0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驱动</a:t>
            </a:r>
            <a:r>
              <a:rPr sz="2325" b="0" dirty="0" err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力矩及变化量约束</a:t>
            </a:r>
            <a:endParaRPr sz="2325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source-37-text">
            <a:extLst>
              <a:ext uri="{FF2B5EF4-FFF2-40B4-BE49-F238E27FC236}">
                <a16:creationId xmlns:a16="http://schemas.microsoft.com/office/drawing/2014/main" id="{40229D13-8374-43AC-897E-2A7AE9F3575B}"/>
              </a:ext>
            </a:extLst>
          </p:cNvPr>
          <p:cNvSpPr/>
          <p:nvPr/>
        </p:nvSpPr>
        <p:spPr>
          <a:xfrm>
            <a:off x="2359438" y="7832884"/>
            <a:ext cx="4039362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驱动受限时的柔顺响应与跟踪误差</a:t>
            </a:r>
            <a:endParaRPr sz="2325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source-38-rect">
            <a:extLst>
              <a:ext uri="{FF2B5EF4-FFF2-40B4-BE49-F238E27FC236}">
                <a16:creationId xmlns:a16="http://schemas.microsoft.com/office/drawing/2014/main" id="{BCBAD8CF-AB51-41D3-B0B1-CE306ECECD47}"/>
              </a:ext>
            </a:extLst>
          </p:cNvPr>
          <p:cNvSpPr/>
          <p:nvPr/>
        </p:nvSpPr>
        <p:spPr>
          <a:xfrm>
            <a:off x="9906000" y="2966086"/>
            <a:ext cx="5715000" cy="154305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7145">
            <a:solidFill>
              <a:srgbClr val="B4D0CB"/>
            </a:solidFill>
            <a:prstDash val="solid"/>
          </a:ln>
        </p:spPr>
      </p:sp>
      <p:sp>
        <p:nvSpPr>
          <p:cNvPr id="39" name="source-39-rect">
            <a:extLst>
              <a:ext uri="{FF2B5EF4-FFF2-40B4-BE49-F238E27FC236}">
                <a16:creationId xmlns:a16="http://schemas.microsoft.com/office/drawing/2014/main" id="{0EA97D64-5524-443A-ACAD-FD8709CF1452}"/>
              </a:ext>
            </a:extLst>
          </p:cNvPr>
          <p:cNvSpPr/>
          <p:nvPr/>
        </p:nvSpPr>
        <p:spPr>
          <a:xfrm>
            <a:off x="9906000" y="2966086"/>
            <a:ext cx="57150" cy="1543050"/>
          </a:xfrm>
          <a:prstGeom prst="rect">
            <a:avLst/>
          </a:prstGeom>
          <a:solidFill>
            <a:srgbClr val="397570"/>
          </a:solidFill>
          <a:ln w="0">
            <a:noFill/>
            <a:prstDash val="solid"/>
          </a:ln>
        </p:spPr>
      </p:sp>
      <p:sp>
        <p:nvSpPr>
          <p:cNvPr id="40" name="source-40-text">
            <a:extLst>
              <a:ext uri="{FF2B5EF4-FFF2-40B4-BE49-F238E27FC236}">
                <a16:creationId xmlns:a16="http://schemas.microsoft.com/office/drawing/2014/main" id="{EA7A7112-90BC-4504-84F1-CED208BE7DEA}"/>
              </a:ext>
            </a:extLst>
          </p:cNvPr>
          <p:cNvSpPr/>
          <p:nvPr/>
        </p:nvSpPr>
        <p:spPr>
          <a:xfrm>
            <a:off x="10670858" y="3085148"/>
            <a:ext cx="4180523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625" b="1">
                <a:solidFill>
                  <a:srgbClr val="397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97570"/>
                </a:solidFill>
                <a:latin typeface="Microsoft YaHei"/>
                <a:ea typeface="Microsoft YaHei"/>
                <a:cs typeface="Microsoft YaHei"/>
              </a:rPr>
              <a:t>接触流形表征与目标配准</a:t>
            </a:r>
          </a:p>
        </p:txBody>
      </p:sp>
      <p:sp>
        <p:nvSpPr>
          <p:cNvPr id="41" name="source-41-text">
            <a:extLst>
              <a:ext uri="{FF2B5EF4-FFF2-40B4-BE49-F238E27FC236}">
                <a16:creationId xmlns:a16="http://schemas.microsoft.com/office/drawing/2014/main" id="{59EF111C-5A45-4E5C-8089-061A57DD3C0E}"/>
              </a:ext>
            </a:extLst>
          </p:cNvPr>
          <p:cNvSpPr/>
          <p:nvPr/>
        </p:nvSpPr>
        <p:spPr>
          <a:xfrm>
            <a:off x="10236518" y="3584734"/>
            <a:ext cx="5049202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 dirty="0" err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物理方向辅助接触场配准</a:t>
            </a:r>
            <a:r>
              <a:rPr sz="2325" b="0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 PCF</a:t>
            </a:r>
          </a:p>
        </p:txBody>
      </p:sp>
      <p:sp>
        <p:nvSpPr>
          <p:cNvPr id="42" name="source-42-text">
            <a:extLst>
              <a:ext uri="{FF2B5EF4-FFF2-40B4-BE49-F238E27FC236}">
                <a16:creationId xmlns:a16="http://schemas.microsoft.com/office/drawing/2014/main" id="{B7CC825B-9A71-45EE-851B-BA9D14C436C1}"/>
              </a:ext>
            </a:extLst>
          </p:cNvPr>
          <p:cNvSpPr/>
          <p:nvPr/>
        </p:nvSpPr>
        <p:spPr>
          <a:xfrm>
            <a:off x="10577893" y="3984784"/>
            <a:ext cx="4375976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/>
              <a:t>观测偏差补偿</a:t>
            </a:r>
            <a:endParaRPr sz="2325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" name="source-43-rect">
            <a:extLst>
              <a:ext uri="{FF2B5EF4-FFF2-40B4-BE49-F238E27FC236}">
                <a16:creationId xmlns:a16="http://schemas.microsoft.com/office/drawing/2014/main" id="{04226E89-7806-45DC-BBE6-A5E6AAF0C8F6}"/>
              </a:ext>
            </a:extLst>
          </p:cNvPr>
          <p:cNvSpPr/>
          <p:nvPr/>
        </p:nvSpPr>
        <p:spPr>
          <a:xfrm>
            <a:off x="9906000" y="4890136"/>
            <a:ext cx="5715000" cy="154305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7145">
            <a:solidFill>
              <a:srgbClr val="B4D0CB"/>
            </a:solidFill>
            <a:prstDash val="solid"/>
          </a:ln>
        </p:spPr>
      </p:sp>
      <p:sp>
        <p:nvSpPr>
          <p:cNvPr id="44" name="source-44-rect">
            <a:extLst>
              <a:ext uri="{FF2B5EF4-FFF2-40B4-BE49-F238E27FC236}">
                <a16:creationId xmlns:a16="http://schemas.microsoft.com/office/drawing/2014/main" id="{5503B4F9-92FE-43C9-9A16-EE472A660149}"/>
              </a:ext>
            </a:extLst>
          </p:cNvPr>
          <p:cNvSpPr/>
          <p:nvPr/>
        </p:nvSpPr>
        <p:spPr>
          <a:xfrm>
            <a:off x="9906000" y="4890136"/>
            <a:ext cx="57150" cy="1543050"/>
          </a:xfrm>
          <a:prstGeom prst="rect">
            <a:avLst/>
          </a:prstGeom>
          <a:solidFill>
            <a:srgbClr val="397570"/>
          </a:solidFill>
          <a:ln w="0">
            <a:noFill/>
            <a:prstDash val="solid"/>
          </a:ln>
        </p:spPr>
      </p:sp>
      <p:sp>
        <p:nvSpPr>
          <p:cNvPr id="45" name="source-45-text">
            <a:extLst>
              <a:ext uri="{FF2B5EF4-FFF2-40B4-BE49-F238E27FC236}">
                <a16:creationId xmlns:a16="http://schemas.microsoft.com/office/drawing/2014/main" id="{1A28758A-3DF1-49E8-AF85-6E17897F047A}"/>
              </a:ext>
            </a:extLst>
          </p:cNvPr>
          <p:cNvSpPr/>
          <p:nvPr/>
        </p:nvSpPr>
        <p:spPr>
          <a:xfrm>
            <a:off x="11623358" y="5009198"/>
            <a:ext cx="2280285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625" b="1">
                <a:solidFill>
                  <a:srgbClr val="397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97570"/>
                </a:solidFill>
                <a:latin typeface="Microsoft YaHei"/>
                <a:ea typeface="Microsoft YaHei"/>
                <a:cs typeface="Microsoft YaHei"/>
              </a:rPr>
              <a:t>有界参考修正</a:t>
            </a:r>
          </a:p>
        </p:txBody>
      </p:sp>
      <p:sp>
        <p:nvSpPr>
          <p:cNvPr id="46" name="source-46-text">
            <a:extLst>
              <a:ext uri="{FF2B5EF4-FFF2-40B4-BE49-F238E27FC236}">
                <a16:creationId xmlns:a16="http://schemas.microsoft.com/office/drawing/2014/main" id="{2D1CE3B2-73B7-4556-B5A3-1B6FD901E470}"/>
              </a:ext>
            </a:extLst>
          </p:cNvPr>
          <p:cNvSpPr/>
          <p:nvPr/>
        </p:nvSpPr>
        <p:spPr>
          <a:xfrm>
            <a:off x="11080433" y="5508784"/>
            <a:ext cx="3366135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约束导纳捕获 RAC</a:t>
            </a:r>
          </a:p>
        </p:txBody>
      </p:sp>
      <p:sp>
        <p:nvSpPr>
          <p:cNvPr id="47" name="source-47-text">
            <a:extLst>
              <a:ext uri="{FF2B5EF4-FFF2-40B4-BE49-F238E27FC236}">
                <a16:creationId xmlns:a16="http://schemas.microsoft.com/office/drawing/2014/main" id="{894B47F7-80D2-4CF3-8221-4CBB06EA87CC}"/>
              </a:ext>
            </a:extLst>
          </p:cNvPr>
          <p:cNvSpPr/>
          <p:nvPr/>
        </p:nvSpPr>
        <p:spPr>
          <a:xfrm>
            <a:off x="10912126" y="5908834"/>
            <a:ext cx="3702748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 dirty="0" err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修正速率</a:t>
            </a:r>
            <a:r>
              <a:rPr lang="zh-CN" altLang="en-US" sz="2325" b="0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限制</a:t>
            </a:r>
            <a:r>
              <a:rPr sz="2325" b="0" dirty="0" err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与累计偏移约束</a:t>
            </a:r>
            <a:endParaRPr sz="2325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source-48-rect">
            <a:extLst>
              <a:ext uri="{FF2B5EF4-FFF2-40B4-BE49-F238E27FC236}">
                <a16:creationId xmlns:a16="http://schemas.microsoft.com/office/drawing/2014/main" id="{D0997FAA-1D4C-4276-9135-B4478E016553}"/>
              </a:ext>
            </a:extLst>
          </p:cNvPr>
          <p:cNvSpPr/>
          <p:nvPr/>
        </p:nvSpPr>
        <p:spPr>
          <a:xfrm>
            <a:off x="9906000" y="6814186"/>
            <a:ext cx="5715000" cy="1543050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7145">
            <a:solidFill>
              <a:srgbClr val="B4D0CB"/>
            </a:solidFill>
            <a:prstDash val="solid"/>
          </a:ln>
        </p:spPr>
      </p:sp>
      <p:sp>
        <p:nvSpPr>
          <p:cNvPr id="49" name="source-49-rect">
            <a:extLst>
              <a:ext uri="{FF2B5EF4-FFF2-40B4-BE49-F238E27FC236}">
                <a16:creationId xmlns:a16="http://schemas.microsoft.com/office/drawing/2014/main" id="{88EE7783-B14D-4785-8007-7B9A53B816BA}"/>
              </a:ext>
            </a:extLst>
          </p:cNvPr>
          <p:cNvSpPr/>
          <p:nvPr/>
        </p:nvSpPr>
        <p:spPr>
          <a:xfrm>
            <a:off x="9906000" y="6814186"/>
            <a:ext cx="57150" cy="1543050"/>
          </a:xfrm>
          <a:prstGeom prst="rect">
            <a:avLst/>
          </a:prstGeom>
          <a:solidFill>
            <a:srgbClr val="397570"/>
          </a:solidFill>
          <a:ln w="0">
            <a:noFill/>
            <a:prstDash val="solid"/>
          </a:ln>
        </p:spPr>
      </p:sp>
      <p:sp>
        <p:nvSpPr>
          <p:cNvPr id="50" name="source-50-text">
            <a:extLst>
              <a:ext uri="{FF2B5EF4-FFF2-40B4-BE49-F238E27FC236}">
                <a16:creationId xmlns:a16="http://schemas.microsoft.com/office/drawing/2014/main" id="{EB77A2FF-C11B-47E4-887D-6BACA4412742}"/>
              </a:ext>
            </a:extLst>
          </p:cNvPr>
          <p:cNvSpPr/>
          <p:nvPr/>
        </p:nvSpPr>
        <p:spPr>
          <a:xfrm>
            <a:off x="10668477" y="6933248"/>
            <a:ext cx="4180523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625" b="1">
                <a:solidFill>
                  <a:srgbClr val="397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位姿</a:t>
            </a:r>
            <a:r>
              <a:rPr sz="2625" b="1" dirty="0" err="1">
                <a:solidFill>
                  <a:srgbClr val="397570"/>
                </a:solidFill>
                <a:latin typeface="Microsoft YaHei"/>
                <a:ea typeface="Microsoft YaHei"/>
                <a:cs typeface="Microsoft YaHei"/>
              </a:rPr>
              <a:t>估计与运动执行协调</a:t>
            </a:r>
            <a:endParaRPr sz="2625" b="1" dirty="0">
              <a:solidFill>
                <a:srgbClr val="3975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source-51-text">
            <a:extLst>
              <a:ext uri="{FF2B5EF4-FFF2-40B4-BE49-F238E27FC236}">
                <a16:creationId xmlns:a16="http://schemas.microsoft.com/office/drawing/2014/main" id="{AE237C7A-513B-46BB-9158-12CD661CB1A9}"/>
              </a:ext>
            </a:extLst>
          </p:cNvPr>
          <p:cNvSpPr/>
          <p:nvPr/>
        </p:nvSpPr>
        <p:spPr>
          <a:xfrm>
            <a:off x="10743819" y="7432834"/>
            <a:ext cx="4039362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分析估计与跟踪误差对组装精度的影响</a:t>
            </a:r>
            <a:br>
              <a:rPr lang="zh-CN" altLang="en-US" dirty="0"/>
            </a:br>
            <a:endParaRPr sz="2325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source-52-text">
            <a:extLst>
              <a:ext uri="{FF2B5EF4-FFF2-40B4-BE49-F238E27FC236}">
                <a16:creationId xmlns:a16="http://schemas.microsoft.com/office/drawing/2014/main" id="{F9D60EE3-51B4-48E9-91C9-69755668FC6E}"/>
              </a:ext>
            </a:extLst>
          </p:cNvPr>
          <p:cNvSpPr/>
          <p:nvPr/>
        </p:nvSpPr>
        <p:spPr>
          <a:xfrm>
            <a:off x="10914507" y="7832884"/>
            <a:ext cx="3702748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325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0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根据关节驱动能力调整参考修正</a:t>
            </a:r>
          </a:p>
        </p:txBody>
      </p:sp>
      <p:sp>
        <p:nvSpPr>
          <p:cNvPr id="53" name="source-53-path">
            <a:extLst>
              <a:ext uri="{FF2B5EF4-FFF2-40B4-BE49-F238E27FC236}">
                <a16:creationId xmlns:a16="http://schemas.microsoft.com/office/drawing/2014/main" id="{547F5B0D-9840-4C8F-AF1B-CDFC23371645}"/>
              </a:ext>
            </a:extLst>
          </p:cNvPr>
          <p:cNvSpPr/>
          <p:nvPr/>
        </p:nvSpPr>
        <p:spPr>
          <a:xfrm>
            <a:off x="4381500" y="4509136"/>
            <a:ext cx="9525" cy="333375"/>
          </a:xfrm>
          <a:custGeom>
            <a:avLst/>
            <a:gdLst/>
            <a:ahLst/>
            <a:cxnLst/>
            <a:rect l="0" t="0" r="0" b="0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28575">
            <a:solidFill>
              <a:srgbClr val="365C7E"/>
            </a:solidFill>
            <a:prstDash val="solid"/>
          </a:ln>
        </p:spPr>
      </p:sp>
      <p:sp>
        <p:nvSpPr>
          <p:cNvPr id="54" name="source-53-path-arrowhead">
            <a:extLst>
              <a:ext uri="{FF2B5EF4-FFF2-40B4-BE49-F238E27FC236}">
                <a16:creationId xmlns:a16="http://schemas.microsoft.com/office/drawing/2014/main" id="{A678CA6C-268D-43B3-8FAD-238717535ADC}"/>
              </a:ext>
            </a:extLst>
          </p:cNvPr>
          <p:cNvSpPr>
            <a:spLocks noGrp="1"/>
          </p:cNvSpPr>
          <p:nvPr/>
        </p:nvSpPr>
        <p:spPr>
          <a:xfrm>
            <a:off x="4329113" y="4755199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104775" y="0"/>
                </a:moveTo>
                <a:lnTo>
                  <a:pt x="52388" y="104775"/>
                </a:lnTo>
                <a:lnTo>
                  <a:pt x="0" y="0"/>
                </a:lnTo>
                <a:lnTo>
                  <a:pt x="52388" y="26194"/>
                </a:lnTo>
                <a:close/>
              </a:path>
            </a:pathLst>
          </a:custGeom>
          <a:solidFill>
            <a:srgbClr val="365C7E"/>
          </a:solidFill>
          <a:ln w="0">
            <a:noFill/>
          </a:ln>
        </p:spPr>
      </p:sp>
      <p:sp>
        <p:nvSpPr>
          <p:cNvPr id="55" name="source-54-path">
            <a:extLst>
              <a:ext uri="{FF2B5EF4-FFF2-40B4-BE49-F238E27FC236}">
                <a16:creationId xmlns:a16="http://schemas.microsoft.com/office/drawing/2014/main" id="{F3E7FA70-2A0E-40DB-9724-50BB14ACD27F}"/>
              </a:ext>
            </a:extLst>
          </p:cNvPr>
          <p:cNvSpPr/>
          <p:nvPr/>
        </p:nvSpPr>
        <p:spPr>
          <a:xfrm>
            <a:off x="4381500" y="6433186"/>
            <a:ext cx="9525" cy="333375"/>
          </a:xfrm>
          <a:custGeom>
            <a:avLst/>
            <a:gdLst/>
            <a:ahLst/>
            <a:cxnLst/>
            <a:rect l="0" t="0" r="0" b="0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28575">
            <a:solidFill>
              <a:srgbClr val="365C7E"/>
            </a:solidFill>
            <a:prstDash val="solid"/>
          </a:ln>
        </p:spPr>
      </p:sp>
      <p:sp>
        <p:nvSpPr>
          <p:cNvPr id="56" name="source-54-path-arrowhead">
            <a:extLst>
              <a:ext uri="{FF2B5EF4-FFF2-40B4-BE49-F238E27FC236}">
                <a16:creationId xmlns:a16="http://schemas.microsoft.com/office/drawing/2014/main" id="{90DC2648-FB95-4E89-9D26-B2E86B275067}"/>
              </a:ext>
            </a:extLst>
          </p:cNvPr>
          <p:cNvSpPr>
            <a:spLocks noGrp="1"/>
          </p:cNvSpPr>
          <p:nvPr/>
        </p:nvSpPr>
        <p:spPr>
          <a:xfrm>
            <a:off x="4329113" y="6679249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104775" y="0"/>
                </a:moveTo>
                <a:lnTo>
                  <a:pt x="52388" y="104775"/>
                </a:lnTo>
                <a:lnTo>
                  <a:pt x="0" y="0"/>
                </a:lnTo>
                <a:lnTo>
                  <a:pt x="52388" y="26194"/>
                </a:lnTo>
                <a:close/>
              </a:path>
            </a:pathLst>
          </a:custGeom>
          <a:solidFill>
            <a:srgbClr val="365C7E"/>
          </a:solidFill>
          <a:ln w="0">
            <a:noFill/>
          </a:ln>
        </p:spPr>
      </p:sp>
      <p:sp>
        <p:nvSpPr>
          <p:cNvPr id="57" name="source-55-path">
            <a:extLst>
              <a:ext uri="{FF2B5EF4-FFF2-40B4-BE49-F238E27FC236}">
                <a16:creationId xmlns:a16="http://schemas.microsoft.com/office/drawing/2014/main" id="{7E5E6E33-388C-47E3-AB2F-3847D4354EBA}"/>
              </a:ext>
            </a:extLst>
          </p:cNvPr>
          <p:cNvSpPr/>
          <p:nvPr/>
        </p:nvSpPr>
        <p:spPr>
          <a:xfrm>
            <a:off x="12763500" y="4509136"/>
            <a:ext cx="9525" cy="333375"/>
          </a:xfrm>
          <a:custGeom>
            <a:avLst/>
            <a:gdLst/>
            <a:ahLst/>
            <a:cxnLst/>
            <a:rect l="0" t="0" r="0" b="0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28575">
            <a:solidFill>
              <a:srgbClr val="397570"/>
            </a:solidFill>
            <a:prstDash val="solid"/>
          </a:ln>
        </p:spPr>
      </p:sp>
      <p:sp>
        <p:nvSpPr>
          <p:cNvPr id="58" name="source-55-path-arrowhead">
            <a:extLst>
              <a:ext uri="{FF2B5EF4-FFF2-40B4-BE49-F238E27FC236}">
                <a16:creationId xmlns:a16="http://schemas.microsoft.com/office/drawing/2014/main" id="{E54EB51A-713D-4CBC-8C81-E0778BAC3923}"/>
              </a:ext>
            </a:extLst>
          </p:cNvPr>
          <p:cNvSpPr>
            <a:spLocks noGrp="1"/>
          </p:cNvSpPr>
          <p:nvPr/>
        </p:nvSpPr>
        <p:spPr>
          <a:xfrm>
            <a:off x="12711113" y="4755199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104775" y="0"/>
                </a:moveTo>
                <a:lnTo>
                  <a:pt x="52388" y="104775"/>
                </a:lnTo>
                <a:lnTo>
                  <a:pt x="0" y="0"/>
                </a:lnTo>
                <a:lnTo>
                  <a:pt x="52388" y="26194"/>
                </a:lnTo>
                <a:close/>
              </a:path>
            </a:pathLst>
          </a:custGeom>
          <a:solidFill>
            <a:srgbClr val="397570"/>
          </a:solidFill>
          <a:ln w="0">
            <a:noFill/>
          </a:ln>
        </p:spPr>
      </p:sp>
      <p:sp>
        <p:nvSpPr>
          <p:cNvPr id="59" name="source-56-path">
            <a:extLst>
              <a:ext uri="{FF2B5EF4-FFF2-40B4-BE49-F238E27FC236}">
                <a16:creationId xmlns:a16="http://schemas.microsoft.com/office/drawing/2014/main" id="{FCD5A09B-B5C6-489A-8EFF-71E75085DBE2}"/>
              </a:ext>
            </a:extLst>
          </p:cNvPr>
          <p:cNvSpPr/>
          <p:nvPr/>
        </p:nvSpPr>
        <p:spPr>
          <a:xfrm>
            <a:off x="12763500" y="6433186"/>
            <a:ext cx="9525" cy="333375"/>
          </a:xfrm>
          <a:custGeom>
            <a:avLst/>
            <a:gdLst/>
            <a:ahLst/>
            <a:cxnLst/>
            <a:rect l="0" t="0" r="0" b="0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28575">
            <a:solidFill>
              <a:srgbClr val="397570"/>
            </a:solidFill>
            <a:prstDash val="solid"/>
          </a:ln>
        </p:spPr>
      </p:sp>
      <p:sp>
        <p:nvSpPr>
          <p:cNvPr id="60" name="source-56-path-arrowhead">
            <a:extLst>
              <a:ext uri="{FF2B5EF4-FFF2-40B4-BE49-F238E27FC236}">
                <a16:creationId xmlns:a16="http://schemas.microsoft.com/office/drawing/2014/main" id="{20812EF6-BF1B-4730-97CE-FF706D8C3CBF}"/>
              </a:ext>
            </a:extLst>
          </p:cNvPr>
          <p:cNvSpPr>
            <a:spLocks noGrp="1"/>
          </p:cNvSpPr>
          <p:nvPr/>
        </p:nvSpPr>
        <p:spPr>
          <a:xfrm>
            <a:off x="12711113" y="6679249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104775" y="0"/>
                </a:moveTo>
                <a:lnTo>
                  <a:pt x="52388" y="104775"/>
                </a:lnTo>
                <a:lnTo>
                  <a:pt x="0" y="0"/>
                </a:lnTo>
                <a:lnTo>
                  <a:pt x="52388" y="26194"/>
                </a:lnTo>
                <a:close/>
              </a:path>
            </a:pathLst>
          </a:custGeom>
          <a:solidFill>
            <a:srgbClr val="397570"/>
          </a:solidFill>
          <a:ln w="0">
            <a:noFill/>
          </a:ln>
        </p:spPr>
      </p:sp>
      <p:sp>
        <p:nvSpPr>
          <p:cNvPr id="63" name="source-59-text">
            <a:extLst>
              <a:ext uri="{FF2B5EF4-FFF2-40B4-BE49-F238E27FC236}">
                <a16:creationId xmlns:a16="http://schemas.microsoft.com/office/drawing/2014/main" id="{21287F67-1297-4E66-92F1-D91C5743162C}"/>
              </a:ext>
            </a:extLst>
          </p:cNvPr>
          <p:cNvSpPr/>
          <p:nvPr/>
        </p:nvSpPr>
        <p:spPr>
          <a:xfrm>
            <a:off x="7710893" y="4125857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250" b="1">
                <a:solidFill>
                  <a:srgbClr val="A77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上层规划</a:t>
            </a:r>
            <a:endParaRPr sz="2250" b="1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source-61-path">
            <a:extLst>
              <a:ext uri="{FF2B5EF4-FFF2-40B4-BE49-F238E27FC236}">
                <a16:creationId xmlns:a16="http://schemas.microsoft.com/office/drawing/2014/main" id="{71DDC321-D5E8-43FF-B1A0-BDDC682353AD}"/>
              </a:ext>
            </a:extLst>
          </p:cNvPr>
          <p:cNvSpPr/>
          <p:nvPr/>
        </p:nvSpPr>
        <p:spPr>
          <a:xfrm>
            <a:off x="7534682" y="4615918"/>
            <a:ext cx="2095499" cy="45719"/>
          </a:xfrm>
          <a:custGeom>
            <a:avLst/>
            <a:gdLst/>
            <a:ahLst/>
            <a:cxnLst/>
            <a:rect l="0" t="0" r="0" b="0"/>
            <a:pathLst>
              <a:path w="2324100" h="9525">
                <a:moveTo>
                  <a:pt x="2324100" y="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67" name="source-62-text">
            <a:extLst>
              <a:ext uri="{FF2B5EF4-FFF2-40B4-BE49-F238E27FC236}">
                <a16:creationId xmlns:a16="http://schemas.microsoft.com/office/drawing/2014/main" id="{12C09821-6202-4BE2-B516-0891FA06F875}"/>
              </a:ext>
            </a:extLst>
          </p:cNvPr>
          <p:cNvSpPr/>
          <p:nvPr/>
        </p:nvSpPr>
        <p:spPr>
          <a:xfrm>
            <a:off x="7699807" y="7207093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250" b="1">
                <a:solidFill>
                  <a:srgbClr val="A77633"/>
                </a:solidFill>
                <a:latin typeface="Microsoft YaHei"/>
                <a:ea typeface="Microsoft YaHei"/>
                <a:cs typeface="Microsoft YaHei"/>
              </a:defRPr>
            </a:pPr>
            <a:endParaRPr sz="2250" b="1" dirty="0">
              <a:solidFill>
                <a:srgbClr val="A776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source-64-path">
            <a:extLst>
              <a:ext uri="{FF2B5EF4-FFF2-40B4-BE49-F238E27FC236}">
                <a16:creationId xmlns:a16="http://schemas.microsoft.com/office/drawing/2014/main" id="{58C6755B-7216-4804-98AC-0BAF54B01159}"/>
              </a:ext>
            </a:extLst>
          </p:cNvPr>
          <p:cNvSpPr/>
          <p:nvPr/>
        </p:nvSpPr>
        <p:spPr>
          <a:xfrm>
            <a:off x="7534683" y="6530445"/>
            <a:ext cx="2095500" cy="45719"/>
          </a:xfrm>
          <a:custGeom>
            <a:avLst/>
            <a:gdLst/>
            <a:ahLst/>
            <a:cxnLst/>
            <a:rect l="0" t="0" r="0" b="0"/>
            <a:pathLst>
              <a:path w="2581275" h="9525">
                <a:moveTo>
                  <a:pt x="0" y="0"/>
                </a:moveTo>
                <a:lnTo>
                  <a:pt x="2581275" y="0"/>
                </a:lnTo>
              </a:path>
            </a:pathLst>
          </a:custGeom>
          <a:noFill/>
          <a:ln w="381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71" name="source-65-path">
            <a:extLst>
              <a:ext uri="{FF2B5EF4-FFF2-40B4-BE49-F238E27FC236}">
                <a16:creationId xmlns:a16="http://schemas.microsoft.com/office/drawing/2014/main" id="{5772A3B0-4AD8-400D-B92A-538AE9CC3ADB}"/>
              </a:ext>
            </a:extLst>
          </p:cNvPr>
          <p:cNvSpPr/>
          <p:nvPr/>
        </p:nvSpPr>
        <p:spPr>
          <a:xfrm>
            <a:off x="4381500" y="8517098"/>
            <a:ext cx="9525" cy="523875"/>
          </a:xfrm>
          <a:custGeom>
            <a:avLst/>
            <a:gdLst/>
            <a:ahLst/>
            <a:cxnLst/>
            <a:rect l="0" t="0" r="0" b="0"/>
            <a:pathLst>
              <a:path w="9525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/>
          <a:ln w="28575">
            <a:solidFill>
              <a:srgbClr val="365C7E"/>
            </a:solidFill>
            <a:prstDash val="solid"/>
          </a:ln>
        </p:spPr>
      </p:sp>
      <p:sp>
        <p:nvSpPr>
          <p:cNvPr id="72" name="source-65-path-arrowhead">
            <a:extLst>
              <a:ext uri="{FF2B5EF4-FFF2-40B4-BE49-F238E27FC236}">
                <a16:creationId xmlns:a16="http://schemas.microsoft.com/office/drawing/2014/main" id="{FACEAC74-F20C-4EC8-9456-B6376E724D0F}"/>
              </a:ext>
            </a:extLst>
          </p:cNvPr>
          <p:cNvSpPr>
            <a:spLocks noGrp="1"/>
          </p:cNvSpPr>
          <p:nvPr/>
        </p:nvSpPr>
        <p:spPr>
          <a:xfrm>
            <a:off x="4329113" y="8953661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104775" y="0"/>
                </a:moveTo>
                <a:lnTo>
                  <a:pt x="52388" y="104775"/>
                </a:lnTo>
                <a:lnTo>
                  <a:pt x="0" y="0"/>
                </a:lnTo>
                <a:lnTo>
                  <a:pt x="52388" y="26194"/>
                </a:lnTo>
                <a:close/>
              </a:path>
            </a:pathLst>
          </a:custGeom>
          <a:solidFill>
            <a:srgbClr val="365C7E"/>
          </a:solidFill>
          <a:ln w="0">
            <a:noFill/>
          </a:ln>
        </p:spPr>
      </p:sp>
      <p:sp>
        <p:nvSpPr>
          <p:cNvPr id="73" name="source-66-path">
            <a:extLst>
              <a:ext uri="{FF2B5EF4-FFF2-40B4-BE49-F238E27FC236}">
                <a16:creationId xmlns:a16="http://schemas.microsoft.com/office/drawing/2014/main" id="{E759162D-FCA3-4FA0-98F2-B99F354F720D}"/>
              </a:ext>
            </a:extLst>
          </p:cNvPr>
          <p:cNvSpPr/>
          <p:nvPr/>
        </p:nvSpPr>
        <p:spPr>
          <a:xfrm>
            <a:off x="12763500" y="8517098"/>
            <a:ext cx="9525" cy="523875"/>
          </a:xfrm>
          <a:custGeom>
            <a:avLst/>
            <a:gdLst/>
            <a:ahLst/>
            <a:cxnLst/>
            <a:rect l="0" t="0" r="0" b="0"/>
            <a:pathLst>
              <a:path w="9525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/>
          <a:ln w="28575">
            <a:solidFill>
              <a:srgbClr val="397570"/>
            </a:solidFill>
            <a:prstDash val="solid"/>
          </a:ln>
        </p:spPr>
      </p:sp>
      <p:sp>
        <p:nvSpPr>
          <p:cNvPr id="74" name="source-66-path-arrowhead">
            <a:extLst>
              <a:ext uri="{FF2B5EF4-FFF2-40B4-BE49-F238E27FC236}">
                <a16:creationId xmlns:a16="http://schemas.microsoft.com/office/drawing/2014/main" id="{E81E7B1C-463C-4268-8DB2-5C964BDC2601}"/>
              </a:ext>
            </a:extLst>
          </p:cNvPr>
          <p:cNvSpPr>
            <a:spLocks noGrp="1"/>
          </p:cNvSpPr>
          <p:nvPr/>
        </p:nvSpPr>
        <p:spPr>
          <a:xfrm>
            <a:off x="12711113" y="8953661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104775" y="0"/>
                </a:moveTo>
                <a:lnTo>
                  <a:pt x="52388" y="104775"/>
                </a:lnTo>
                <a:lnTo>
                  <a:pt x="0" y="0"/>
                </a:lnTo>
                <a:lnTo>
                  <a:pt x="52388" y="26194"/>
                </a:lnTo>
                <a:close/>
              </a:path>
            </a:pathLst>
          </a:custGeom>
          <a:solidFill>
            <a:srgbClr val="397570"/>
          </a:solidFill>
          <a:ln w="0">
            <a:noFill/>
          </a:ln>
        </p:spPr>
      </p:sp>
      <p:sp>
        <p:nvSpPr>
          <p:cNvPr id="75" name="source-67-rect">
            <a:extLst>
              <a:ext uri="{FF2B5EF4-FFF2-40B4-BE49-F238E27FC236}">
                <a16:creationId xmlns:a16="http://schemas.microsoft.com/office/drawing/2014/main" id="{3DD2AB22-5446-4EDD-B689-3A7857112F34}"/>
              </a:ext>
            </a:extLst>
          </p:cNvPr>
          <p:cNvSpPr/>
          <p:nvPr/>
        </p:nvSpPr>
        <p:spPr>
          <a:xfrm>
            <a:off x="1257300" y="9079073"/>
            <a:ext cx="14630400" cy="2122387"/>
          </a:xfrm>
          <a:prstGeom prst="roundRect">
            <a:avLst>
              <a:gd name="adj" fmla="val 2516"/>
            </a:avLst>
          </a:prstGeom>
          <a:solidFill>
            <a:srgbClr val="FAF7F0"/>
          </a:solidFill>
          <a:ln w="19050">
            <a:solidFill>
              <a:srgbClr val="966F38"/>
            </a:solidFill>
            <a:prstDash val="solid"/>
          </a:ln>
        </p:spPr>
      </p:sp>
      <p:sp>
        <p:nvSpPr>
          <p:cNvPr id="76" name="source-68-rect">
            <a:extLst>
              <a:ext uri="{FF2B5EF4-FFF2-40B4-BE49-F238E27FC236}">
                <a16:creationId xmlns:a16="http://schemas.microsoft.com/office/drawing/2014/main" id="{3DA38E9B-F945-4450-B075-CC0F073927C3}"/>
              </a:ext>
            </a:extLst>
          </p:cNvPr>
          <p:cNvSpPr/>
          <p:nvPr/>
        </p:nvSpPr>
        <p:spPr>
          <a:xfrm>
            <a:off x="1257300" y="9079073"/>
            <a:ext cx="14630400" cy="685800"/>
          </a:xfrm>
          <a:prstGeom prst="roundRect">
            <a:avLst>
              <a:gd name="adj" fmla="val 11111"/>
            </a:avLst>
          </a:prstGeom>
          <a:solidFill>
            <a:srgbClr val="966F38"/>
          </a:solidFill>
          <a:ln w="9525">
            <a:solidFill>
              <a:srgbClr val="966F38"/>
            </a:solidFill>
            <a:prstDash val="solid"/>
          </a:ln>
        </p:spPr>
      </p:sp>
      <p:sp>
        <p:nvSpPr>
          <p:cNvPr id="77" name="source-69-rect">
            <a:extLst>
              <a:ext uri="{FF2B5EF4-FFF2-40B4-BE49-F238E27FC236}">
                <a16:creationId xmlns:a16="http://schemas.microsoft.com/office/drawing/2014/main" id="{EB2314B6-41B8-4FE1-B5F3-EDF82413B7CF}"/>
              </a:ext>
            </a:extLst>
          </p:cNvPr>
          <p:cNvSpPr/>
          <p:nvPr/>
        </p:nvSpPr>
        <p:spPr>
          <a:xfrm>
            <a:off x="1257300" y="9526748"/>
            <a:ext cx="14630400" cy="238125"/>
          </a:xfrm>
          <a:prstGeom prst="rect">
            <a:avLst/>
          </a:prstGeom>
          <a:solidFill>
            <a:srgbClr val="966F38"/>
          </a:solidFill>
          <a:ln w="0">
            <a:noFill/>
            <a:prstDash val="solid"/>
          </a:ln>
        </p:spPr>
      </p:sp>
      <p:sp>
        <p:nvSpPr>
          <p:cNvPr id="78" name="source-70-text">
            <a:extLst>
              <a:ext uri="{FF2B5EF4-FFF2-40B4-BE49-F238E27FC236}">
                <a16:creationId xmlns:a16="http://schemas.microsoft.com/office/drawing/2014/main" id="{2280BFE6-97DF-4813-95A0-462E1DAB9E1C}"/>
              </a:ext>
            </a:extLst>
          </p:cNvPr>
          <p:cNvSpPr/>
          <p:nvPr/>
        </p:nvSpPr>
        <p:spPr>
          <a:xfrm>
            <a:off x="5564028" y="9206708"/>
            <a:ext cx="6026467" cy="5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研究内容三　地面实验与集成验证</a:t>
            </a:r>
          </a:p>
        </p:txBody>
      </p:sp>
      <p:sp>
        <p:nvSpPr>
          <p:cNvPr id="80" name="source-72-rect">
            <a:extLst>
              <a:ext uri="{FF2B5EF4-FFF2-40B4-BE49-F238E27FC236}">
                <a16:creationId xmlns:a16="http://schemas.microsoft.com/office/drawing/2014/main" id="{6E60D64C-F5DC-4CB8-8E28-F98F12797E1A}"/>
              </a:ext>
            </a:extLst>
          </p:cNvPr>
          <p:cNvSpPr/>
          <p:nvPr/>
        </p:nvSpPr>
        <p:spPr>
          <a:xfrm>
            <a:off x="1524000" y="9894945"/>
            <a:ext cx="4191000" cy="1162050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7145">
            <a:solidFill>
              <a:srgbClr val="D6C7AC"/>
            </a:solidFill>
            <a:prstDash val="solid"/>
          </a:ln>
        </p:spPr>
      </p:sp>
      <p:sp>
        <p:nvSpPr>
          <p:cNvPr id="81" name="source-73-text">
            <a:extLst>
              <a:ext uri="{FF2B5EF4-FFF2-40B4-BE49-F238E27FC236}">
                <a16:creationId xmlns:a16="http://schemas.microsoft.com/office/drawing/2014/main" id="{B796CC3D-D1D2-4BBB-BFA1-7160AA15056C}"/>
              </a:ext>
            </a:extLst>
          </p:cNvPr>
          <p:cNvSpPr/>
          <p:nvPr/>
        </p:nvSpPr>
        <p:spPr>
          <a:xfrm>
            <a:off x="2055876" y="9960667"/>
            <a:ext cx="3127248" cy="48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400" b="1">
                <a:solidFill>
                  <a:srgbClr val="966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/>
              <a:t>动力学模型与运动控制验证</a:t>
            </a:r>
            <a:br>
              <a:rPr lang="zh-CN" altLang="en-US" dirty="0"/>
            </a:br>
            <a:endParaRPr sz="2400" b="1" dirty="0">
              <a:solidFill>
                <a:srgbClr val="966F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source-74-text">
            <a:extLst>
              <a:ext uri="{FF2B5EF4-FFF2-40B4-BE49-F238E27FC236}">
                <a16:creationId xmlns:a16="http://schemas.microsoft.com/office/drawing/2014/main" id="{96F103AE-20B7-456A-A3AC-406C3F2FF535}"/>
              </a:ext>
            </a:extLst>
          </p:cNvPr>
          <p:cNvSpPr/>
          <p:nvPr/>
        </p:nvSpPr>
        <p:spPr>
          <a:xfrm>
            <a:off x="1827848" y="10352145"/>
            <a:ext cx="358330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250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0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定点稳定</a:t>
            </a:r>
            <a:r>
              <a:rPr sz="2250" b="0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250" b="0" dirty="0" err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轨迹跟踪</a:t>
            </a:r>
            <a:endParaRPr sz="2250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source-75-text">
            <a:extLst>
              <a:ext uri="{FF2B5EF4-FFF2-40B4-BE49-F238E27FC236}">
                <a16:creationId xmlns:a16="http://schemas.microsoft.com/office/drawing/2014/main" id="{3D094E90-9095-4B3D-BE65-9B73E5673825}"/>
              </a:ext>
            </a:extLst>
          </p:cNvPr>
          <p:cNvSpPr/>
          <p:nvPr/>
        </p:nvSpPr>
        <p:spPr>
          <a:xfrm>
            <a:off x="1990725" y="10685520"/>
            <a:ext cx="32575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250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0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模型误差、跟踪精度与实时性</a:t>
            </a:r>
          </a:p>
        </p:txBody>
      </p:sp>
      <p:sp>
        <p:nvSpPr>
          <p:cNvPr id="84" name="source-76-rect">
            <a:extLst>
              <a:ext uri="{FF2B5EF4-FFF2-40B4-BE49-F238E27FC236}">
                <a16:creationId xmlns:a16="http://schemas.microsoft.com/office/drawing/2014/main" id="{BD1CE9B7-B715-4F05-9671-23A6F5A75AE0}"/>
              </a:ext>
            </a:extLst>
          </p:cNvPr>
          <p:cNvSpPr/>
          <p:nvPr/>
        </p:nvSpPr>
        <p:spPr>
          <a:xfrm>
            <a:off x="6477000" y="9894945"/>
            <a:ext cx="4191000" cy="1162050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7145">
            <a:solidFill>
              <a:srgbClr val="D6C7AC"/>
            </a:solidFill>
            <a:prstDash val="solid"/>
          </a:ln>
        </p:spPr>
      </p:sp>
      <p:sp>
        <p:nvSpPr>
          <p:cNvPr id="85" name="source-77-text">
            <a:extLst>
              <a:ext uri="{FF2B5EF4-FFF2-40B4-BE49-F238E27FC236}">
                <a16:creationId xmlns:a16="http://schemas.microsoft.com/office/drawing/2014/main" id="{141BA03F-F146-4837-BE86-C0F13C216AC4}"/>
              </a:ext>
            </a:extLst>
          </p:cNvPr>
          <p:cNvSpPr/>
          <p:nvPr/>
        </p:nvSpPr>
        <p:spPr>
          <a:xfrm>
            <a:off x="7180231" y="9960667"/>
            <a:ext cx="2779776" cy="48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400" b="1">
                <a:solidFill>
                  <a:srgbClr val="966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/>
              <a:t>接触引导方法对照验证</a:t>
            </a:r>
            <a:br>
              <a:rPr lang="zh-CN" altLang="en-US" dirty="0"/>
            </a:br>
            <a:endParaRPr sz="2400" b="1" dirty="0">
              <a:solidFill>
                <a:srgbClr val="966F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source-78-text">
            <a:extLst>
              <a:ext uri="{FF2B5EF4-FFF2-40B4-BE49-F238E27FC236}">
                <a16:creationId xmlns:a16="http://schemas.microsoft.com/office/drawing/2014/main" id="{9ECBCAD5-0468-4500-8F94-833C45D0E4DD}"/>
              </a:ext>
            </a:extLst>
          </p:cNvPr>
          <p:cNvSpPr/>
          <p:nvPr/>
        </p:nvSpPr>
        <p:spPr>
          <a:xfrm>
            <a:off x="6780848" y="10352145"/>
            <a:ext cx="358330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250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单独配准、单独修正与联合使用</a:t>
            </a:r>
            <a:br>
              <a:rPr lang="zh-CN" altLang="en-US" dirty="0"/>
            </a:br>
            <a:endParaRPr sz="2250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source-79-text">
            <a:extLst>
              <a:ext uri="{FF2B5EF4-FFF2-40B4-BE49-F238E27FC236}">
                <a16:creationId xmlns:a16="http://schemas.microsoft.com/office/drawing/2014/main" id="{0CA5A0B6-C4A1-466F-B8DD-12512516304B}"/>
              </a:ext>
            </a:extLst>
          </p:cNvPr>
          <p:cNvSpPr/>
          <p:nvPr/>
        </p:nvSpPr>
        <p:spPr>
          <a:xfrm>
            <a:off x="7106603" y="10685520"/>
            <a:ext cx="293179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250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对准精度与接触力对比</a:t>
            </a:r>
            <a:endParaRPr sz="2250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source-80-rect">
            <a:extLst>
              <a:ext uri="{FF2B5EF4-FFF2-40B4-BE49-F238E27FC236}">
                <a16:creationId xmlns:a16="http://schemas.microsoft.com/office/drawing/2014/main" id="{DA326C99-35C5-47ED-9845-F8109A3C27FA}"/>
              </a:ext>
            </a:extLst>
          </p:cNvPr>
          <p:cNvSpPr/>
          <p:nvPr/>
        </p:nvSpPr>
        <p:spPr>
          <a:xfrm>
            <a:off x="11430000" y="9894945"/>
            <a:ext cx="4191000" cy="1162050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7145">
            <a:solidFill>
              <a:srgbClr val="D6C7AC"/>
            </a:solidFill>
            <a:prstDash val="solid"/>
          </a:ln>
        </p:spPr>
      </p:sp>
      <p:sp>
        <p:nvSpPr>
          <p:cNvPr id="89" name="source-81-text">
            <a:extLst>
              <a:ext uri="{FF2B5EF4-FFF2-40B4-BE49-F238E27FC236}">
                <a16:creationId xmlns:a16="http://schemas.microsoft.com/office/drawing/2014/main" id="{33F62B6A-777A-4C25-8E4D-23CCA2C3EFBD}"/>
              </a:ext>
            </a:extLst>
          </p:cNvPr>
          <p:cNvSpPr/>
          <p:nvPr/>
        </p:nvSpPr>
        <p:spPr>
          <a:xfrm>
            <a:off x="12135612" y="9960667"/>
            <a:ext cx="2779776" cy="48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400" b="1">
                <a:solidFill>
                  <a:srgbClr val="966F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66F38"/>
                </a:solidFill>
                <a:latin typeface="Microsoft YaHei"/>
                <a:ea typeface="Microsoft YaHei"/>
                <a:cs typeface="Microsoft YaHei"/>
              </a:rPr>
              <a:t>典型接口集成验证</a:t>
            </a:r>
          </a:p>
        </p:txBody>
      </p:sp>
      <p:sp>
        <p:nvSpPr>
          <p:cNvPr id="90" name="source-82-text">
            <a:extLst>
              <a:ext uri="{FF2B5EF4-FFF2-40B4-BE49-F238E27FC236}">
                <a16:creationId xmlns:a16="http://schemas.microsoft.com/office/drawing/2014/main" id="{0397A3BE-8151-405F-9645-580085DB3A6D}"/>
              </a:ext>
            </a:extLst>
          </p:cNvPr>
          <p:cNvSpPr/>
          <p:nvPr/>
        </p:nvSpPr>
        <p:spPr>
          <a:xfrm>
            <a:off x="11702415" y="10344104"/>
            <a:ext cx="358330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250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r>
              <a:rPr sz="2250" b="0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2250" b="0" dirty="0" err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对准</a:t>
            </a:r>
            <a:r>
              <a:rPr sz="2250" b="0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2250" b="0" dirty="0" err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插接</a:t>
            </a:r>
            <a:r>
              <a:rPr sz="2250" b="0" dirty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lang="zh-CN" altLang="en-US" dirty="0"/>
              <a:t>到位</a:t>
            </a:r>
            <a:r>
              <a:rPr sz="2250" b="0" dirty="0" err="1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rPr>
              <a:t>保持</a:t>
            </a:r>
            <a:endParaRPr lang="en-US" sz="2250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  <a:p>
            <a:pPr algn="ctr" eaLnBrk="0" hangingPunct="0">
              <a:defRPr sz="2250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评价组装精度与组装成功率</a:t>
            </a:r>
          </a:p>
          <a:p>
            <a:pPr algn="ctr" eaLnBrk="0" latinLnBrk="0" hangingPunct="0">
              <a:defRPr sz="2250" b="0">
                <a:solidFill>
                  <a:srgbClr val="223342"/>
                </a:solidFill>
                <a:latin typeface="Microsoft YaHei"/>
                <a:ea typeface="Microsoft YaHei"/>
                <a:cs typeface="Microsoft YaHei"/>
              </a:defRPr>
            </a:pPr>
            <a:endParaRPr sz="2250" b="0" dirty="0">
              <a:solidFill>
                <a:srgbClr val="2233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source-84-path">
            <a:extLst>
              <a:ext uri="{FF2B5EF4-FFF2-40B4-BE49-F238E27FC236}">
                <a16:creationId xmlns:a16="http://schemas.microsoft.com/office/drawing/2014/main" id="{309BCBB7-B1B1-47AB-A3EE-CB84E4B2F1D1}"/>
              </a:ext>
            </a:extLst>
          </p:cNvPr>
          <p:cNvSpPr/>
          <p:nvPr/>
        </p:nvSpPr>
        <p:spPr>
          <a:xfrm>
            <a:off x="5781675" y="10475970"/>
            <a:ext cx="619125" cy="9525"/>
          </a:xfrm>
          <a:custGeom>
            <a:avLst/>
            <a:gdLst/>
            <a:ahLst/>
            <a:cxnLst/>
            <a:rect l="0" t="0" r="0" b="0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966F38"/>
            </a:solidFill>
            <a:prstDash val="solid"/>
          </a:ln>
        </p:spPr>
      </p:sp>
      <p:sp>
        <p:nvSpPr>
          <p:cNvPr id="93" name="source-84-path-arrowhead">
            <a:extLst>
              <a:ext uri="{FF2B5EF4-FFF2-40B4-BE49-F238E27FC236}">
                <a16:creationId xmlns:a16="http://schemas.microsoft.com/office/drawing/2014/main" id="{60CE6FFC-D68A-4306-9C2D-4C33E9694A24}"/>
              </a:ext>
            </a:extLst>
          </p:cNvPr>
          <p:cNvSpPr>
            <a:spLocks noGrp="1"/>
          </p:cNvSpPr>
          <p:nvPr/>
        </p:nvSpPr>
        <p:spPr>
          <a:xfrm>
            <a:off x="6313488" y="10423583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0"/>
                </a:moveTo>
                <a:lnTo>
                  <a:pt x="104775" y="52388"/>
                </a:lnTo>
                <a:lnTo>
                  <a:pt x="0" y="104775"/>
                </a:lnTo>
                <a:lnTo>
                  <a:pt x="26194" y="52388"/>
                </a:lnTo>
                <a:close/>
              </a:path>
            </a:pathLst>
          </a:custGeom>
          <a:solidFill>
            <a:srgbClr val="966F38"/>
          </a:solidFill>
          <a:ln w="0">
            <a:noFill/>
          </a:ln>
        </p:spPr>
      </p:sp>
      <p:sp>
        <p:nvSpPr>
          <p:cNvPr id="94" name="source-85-path">
            <a:extLst>
              <a:ext uri="{FF2B5EF4-FFF2-40B4-BE49-F238E27FC236}">
                <a16:creationId xmlns:a16="http://schemas.microsoft.com/office/drawing/2014/main" id="{BCBDAF5D-7532-4E72-9A3C-F87CBF60C01C}"/>
              </a:ext>
            </a:extLst>
          </p:cNvPr>
          <p:cNvSpPr/>
          <p:nvPr/>
        </p:nvSpPr>
        <p:spPr>
          <a:xfrm>
            <a:off x="10734675" y="10475970"/>
            <a:ext cx="619125" cy="9525"/>
          </a:xfrm>
          <a:custGeom>
            <a:avLst/>
            <a:gdLst/>
            <a:ahLst/>
            <a:cxnLst/>
            <a:rect l="0" t="0" r="0" b="0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966F38"/>
            </a:solidFill>
            <a:prstDash val="solid"/>
          </a:ln>
        </p:spPr>
      </p:sp>
      <p:sp>
        <p:nvSpPr>
          <p:cNvPr id="95" name="source-85-path-arrowhead">
            <a:extLst>
              <a:ext uri="{FF2B5EF4-FFF2-40B4-BE49-F238E27FC236}">
                <a16:creationId xmlns:a16="http://schemas.microsoft.com/office/drawing/2014/main" id="{27C4348E-95AB-41DC-9A9D-D4AE4388FBCF}"/>
              </a:ext>
            </a:extLst>
          </p:cNvPr>
          <p:cNvSpPr>
            <a:spLocks noGrp="1"/>
          </p:cNvSpPr>
          <p:nvPr/>
        </p:nvSpPr>
        <p:spPr>
          <a:xfrm>
            <a:off x="11266488" y="10423583"/>
            <a:ext cx="104775" cy="104775"/>
          </a:xfrm>
          <a:custGeom>
            <a:avLst/>
            <a:gdLst/>
            <a:ahLst/>
            <a:cxnLst/>
            <a:rect l="0" t="0" r="0" b="0"/>
            <a:pathLst>
              <a:path w="104775" h="104775">
                <a:moveTo>
                  <a:pt x="0" y="0"/>
                </a:moveTo>
                <a:lnTo>
                  <a:pt x="104775" y="52388"/>
                </a:lnTo>
                <a:lnTo>
                  <a:pt x="0" y="104775"/>
                </a:lnTo>
                <a:lnTo>
                  <a:pt x="26194" y="52388"/>
                </a:lnTo>
                <a:close/>
              </a:path>
            </a:pathLst>
          </a:custGeom>
          <a:solidFill>
            <a:srgbClr val="966F38"/>
          </a:solidFill>
          <a:ln w="0">
            <a:noFill/>
          </a:ln>
        </p:spPr>
      </p:sp>
      <p:sp>
        <p:nvSpPr>
          <p:cNvPr id="104" name="source-59-text">
            <a:extLst>
              <a:ext uri="{FF2B5EF4-FFF2-40B4-BE49-F238E27FC236}">
                <a16:creationId xmlns:a16="http://schemas.microsoft.com/office/drawing/2014/main" id="{51CBA643-77AC-4AD2-B8CA-F599C24C5687}"/>
              </a:ext>
            </a:extLst>
          </p:cNvPr>
          <p:cNvSpPr/>
          <p:nvPr/>
        </p:nvSpPr>
        <p:spPr>
          <a:xfrm>
            <a:off x="7723599" y="6070386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eaLnBrk="0" latinLnBrk="0" hangingPunct="0">
              <a:defRPr sz="2250" b="1">
                <a:solidFill>
                  <a:srgbClr val="A77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底层控制</a:t>
            </a:r>
            <a:endParaRPr sz="2250" b="1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718580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154</Words>
  <Application>Microsoft Office PowerPoint</Application>
  <DocSecurity>0</DocSecurity>
  <PresentationFormat>自定义</PresentationFormat>
  <Paragraphs>35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文康 苏</cp:lastModifiedBy>
  <cp:revision>30</cp:revision>
  <dcterms:created xsi:type="dcterms:W3CDTF">2026-09-24T06:37:37Z</dcterms:created>
  <dcterms:modified xsi:type="dcterms:W3CDTF">2026-09-24T12:22:27Z</dcterms:modified>
</cp:coreProperties>
</file>